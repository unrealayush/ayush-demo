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CLINICAL STUDY LANDSPACE &amp; COMPONENT INPUTS</a:t>
            </a:r>
          </a:p>
        </p:txBody>
      </p:sp>
      <p:pic>
        <p:nvPicPr>
          <p:cNvPr id="4" name="Picture 3" descr="slic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3343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ACTIVE PHYTOCHEMICAL: Curated botanical active ingredients (Costunolide + Dehydrocostus) extracted from Saussurea lappa.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MOLECULAR TAXONOMY: Live multi-organism selections representing high-threat Gram-negative and Gram-positive pathogen isolations.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REFERENCE VALIDATION: Seamlessly integrated structural formula for Ciprofloxacin, facilitating benchmark comparisons.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HIGH-THROUGHPUT PIPELINE RUNTIME MONITOR</a:t>
            </a:r>
          </a:p>
        </p:txBody>
      </p:sp>
      <p:pic>
        <p:nvPicPr>
          <p:cNvPr id="4" name="Picture 3" descr="slic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3086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Standalone COMPLIANCE: 100% serverless static runtime completely independent of cloud VM spot terminations.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ZERO RUNTIME LATENCY: Immediate asset fetching directly from localized pre-compiled directory databases.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REAL-TIME METRICS: Dynamic progress monitoring of active L4 GPU-bound dockings without mock thresholds.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LIVE INTERACTIVE 3D CO-CRYSTAL VISUALIZER</a:t>
            </a:r>
          </a:p>
        </p:txBody>
      </p:sp>
      <p:pic>
        <p:nvPicPr>
          <p:cNvPr id="4" name="Picture 3" descr="slic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828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EMERALD STICK OVERLAY: Real physics-based AutoDock Vina binding poses showing local minimum energy structures.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NEON PURPLE DIFFUSION: Generative PyTorch DiffDock-L spatial ligand positions representing model-native pocket predictions.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PATHOGEN SPECTRUM: Pathology protein receptors rendered in high-end spectrum ribbons inside the WebGL container.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AI-DERIVED PHENOTYPIC CASCADE NETWORKS</a:t>
            </a:r>
          </a:p>
        </p:txBody>
      </p:sp>
      <p:pic>
        <p:nvPicPr>
          <p:cNvPr id="4" name="Picture 3" descr="slic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314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CYTOSCAPE BIOCASCADE: Custom SVG node-edge mathematical networks displaying target blockade and metabolic decay loops.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MOLECULAR FLOW: Clear pathways mapping compound-to-receptor triggers and subsequent anti-biofilm phenotype outcomes.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SCIENTIFIC HYPOTHESIS: Inline mechanical reasoning summaries outlining exact regulatory genes being targeted.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GLOBAL EVIDENCE PASSPORT &amp; SCORING GAUGES</a:t>
            </a:r>
          </a:p>
        </p:txBody>
      </p:sp>
      <p:pic>
        <p:nvPicPr>
          <p:cNvPr id="4" name="Picture 3" descr="slic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VALIDATION PRIORITY GAUGE: Glowing custom SVG circular progress ring mapping real multi-model scoring formulas.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CROSS-MODEL BALANCING: Structured weighting scoring (AMR Relevance + Docking Plausibility + Spatial Diffusion).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MOLECULAR METRICS: Precision readouts of Vina affinities (kcal/mol), DiffDock confidences, and H-Bond counts.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CLOSED-LOOP PRECLINICAL VALIDATION WORKFLOW</a:t>
            </a:r>
          </a:p>
        </p:txBody>
      </p:sp>
      <p:pic>
        <p:nvPicPr>
          <p:cNvPr id="4" name="Picture 3" descr="slic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WET-LAB DEPLOYMENT: Suggested in-vitro experimental flows directly aligned to target phenotypes.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SYNERGY CHECKLISTS: Micro-dilution assays (MIC), checkerboard synergy (FICI), and transcriptomic qPCR checklists.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PLANNED ASSAYS: Dynamic color-coded progress pill bars indicating planned, active, or pending validation statuses.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HIGH-THROUGHPUT LEADERBOARD RANKINGS</a:t>
            </a:r>
          </a:p>
        </p:txBody>
      </p:sp>
      <p:pic>
        <p:nvPicPr>
          <p:cNvPr id="4" name="Picture 3" descr="slic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132702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DYNAMIC PATHOGEN GRID: Interactive 24-compound grid displaying complete pre-clinical molecule databases.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COMPREHENSIVE SORTING: Widescreen table allowing instant target search, selection highlights, and rank sorting.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ONE-CLICK RE-ROUTING: Clicking any compound instantly shifts the 3D visualizer, progress gauges, and dossiers in real-time.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11274552" cy="1828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2D3EE"/>
                </a:solidFill>
                <a:latin typeface="Trebuchet MS"/>
              </a:defRPr>
            </a:pPr>
            <a:r>
              <a:t>MEVREON BIO-AI PLATFORM : FORENSIC DOSSIERS &amp; 11-FILE METADATA ARCHIVES</a:t>
            </a:r>
          </a:p>
        </p:txBody>
      </p:sp>
      <p:pic>
        <p:nvPicPr>
          <p:cNvPr id="4" name="Picture 3" descr="slic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583680" cy="41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188720"/>
            <a:ext cx="4416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A855F7"/>
                </a:solidFill>
                <a:latin typeface="Trebuchet MS"/>
              </a:defRPr>
            </a:pPr>
            <a:r>
              <a:t>VISIBLE FIELDS &amp; ANALYTICAL FEATURES: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TOTAL TRANSPARENCY: Live download buttons to export the 11 raw files (SDF, PDBQT, JSON, MD) directly from database.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CRYPTOGRAPHIC TRACEABILITY: Blockchain-ready SHA-256 hashes verifying data-provenance and preventing mock entries.</a:t>
            </a:r>
          </a:p>
          <a:p>
            <a:pPr>
              <a:spcAft>
                <a:spcPts val="12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✦ REGULATORY PREPARATION: Clear, clinical-ready disclaimers outlining the research-use status of all generated outputs.</a:t>
            </a:r>
          </a:p>
          <a:p>
            <a:pPr>
              <a:spcBef>
                <a:spcPts val="2000"/>
              </a:spcBef>
              <a:defRPr sz="800">
                <a:solidFill>
                  <a:srgbClr val="475569"/>
                </a:solidFill>
                <a:latin typeface="Consolas"/>
              </a:defRPr>
            </a:pPr>
            <a:r>
              <a:t>MEVREON-CORE-HTS // SECURED RESEARCH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