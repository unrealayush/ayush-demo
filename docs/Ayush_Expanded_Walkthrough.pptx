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  <a:latin typeface="Trebuchet MS"/>
              </a:defRPr>
            </a:pPr>
            <a:r>
              <a:t>MEVREON BIO-AI PLATFORM : PRECLINICAL DEMO CORE &amp; CONTROLS</a:t>
            </a:r>
          </a:p>
        </p:txBody>
      </p:sp>
      <p:pic>
        <p:nvPicPr>
          <p:cNvPr id="4" name="Picture 3" descr="slic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583680" cy="2828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188720"/>
            <a:ext cx="4416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A855F7"/>
                </a:solidFill>
                <a:latin typeface="Trebuchet MS"/>
              </a:defRPr>
            </a:pPr>
            <a:r>
              <a:t>VISIBLE FIELDS &amp; ANALYTICAL FEATURES: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ACTIVE PATHWAYS: Live multi-organism dropdown selectors (PqsR, LasR, PelD, MexB, AgrA, SrtA, MecA, AcrB, MurJ, OmpK36, MrkH, Wzc)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MOLECULAR CANDIDATES: Botanical Kuth active ingredients (Costunolide + Dehydrocostus lactone) with high-res structural metadata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INTEGRATED COMPARATOR: High-resolution molecular structure for Ciprofloxacin reference validation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CLINICAL STUDY SCENARIO: Biofilm-high chronic wound model (Isolate: PAO1)</a:t>
            </a:r>
          </a:p>
          <a:p>
            <a:pPr>
              <a:spcBef>
                <a:spcPts val="2000"/>
              </a:spcBef>
              <a:defRPr sz="800">
                <a:solidFill>
                  <a:srgbClr val="475569"/>
                </a:solidFill>
                <a:latin typeface="Consolas"/>
              </a:defRPr>
            </a:pPr>
            <a:r>
              <a:t>MEVREON-CORE-HTS // SECURED RESEARCH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  <a:latin typeface="Trebuchet MS"/>
              </a:defRPr>
            </a:pPr>
            <a:r>
              <a:t>MEVREON BIO-AI PLATFORM : LIVE HIGH-THROUGHPUT PIPELINE MONITOR</a:t>
            </a:r>
          </a:p>
        </p:txBody>
      </p:sp>
      <p:pic>
        <p:nvPicPr>
          <p:cNvPr id="4" name="Picture 3" descr="slic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583680" cy="2828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188720"/>
            <a:ext cx="4416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A855F7"/>
                </a:solidFill>
                <a:latin typeface="Trebuchet MS"/>
              </a:defRPr>
            </a:pPr>
            <a:r>
              <a:t>VISIBLE FIELDS &amp; ANALYTICAL FEATURES: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0ms RUNTIME LATENCY: Serverless architecture fetching 100% genuine molecular coordinates from static public assets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SEQUENTIAL GPU EXECUTION: CUDA-enabled progress monitoring on NVIDIA L4 VM (No hardcoded metrics)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INTERACTIVE WEBGL ENGINE: Floating 3D Protein-Ligand co-crystal binding site viewer</a:t>
            </a:r>
          </a:p>
          <a:p>
            <a:pPr>
              <a:spcBef>
                <a:spcPts val="2000"/>
              </a:spcBef>
              <a:defRPr sz="800">
                <a:solidFill>
                  <a:srgbClr val="475569"/>
                </a:solidFill>
                <a:latin typeface="Consolas"/>
              </a:defRPr>
            </a:pPr>
            <a:r>
              <a:t>MEVREON-CORE-HTS // SECURED RESEARCH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  <a:latin typeface="Trebuchet MS"/>
              </a:defRPr>
            </a:pPr>
            <a:r>
              <a:t>MEVREON BIO-AI PLATFORM : BIOPHYSICAL CO-CRYSTAL INTERACTION pockets</a:t>
            </a:r>
          </a:p>
        </p:txBody>
      </p:sp>
      <p:pic>
        <p:nvPicPr>
          <p:cNvPr id="4" name="Picture 3" descr="slic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583680" cy="2828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188720"/>
            <a:ext cx="4416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A855F7"/>
                </a:solidFill>
                <a:latin typeface="Trebuchet MS"/>
              </a:defRPr>
            </a:pPr>
            <a:r>
              <a:t>VISIBLE FIELDS &amp; ANALYTICAL FEATURES: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THERMODYNAMIC AFFINITY: Real AutoDock Vina co-crystal pocket overlays rendering in glowing Emerald Sticks (Green)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SPATIAL DIFFUSION: Generative PyTorch DiffDock-L ligand poses rendering in glowing Neon Purple Sticks (Purple)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MOLECULAR SPECTRUM: Clean receptor pathogenic protein structures rendering in high-end cartoon ribbons</a:t>
            </a:r>
          </a:p>
          <a:p>
            <a:pPr>
              <a:spcBef>
                <a:spcPts val="2000"/>
              </a:spcBef>
              <a:defRPr sz="800">
                <a:solidFill>
                  <a:srgbClr val="475569"/>
                </a:solidFill>
                <a:latin typeface="Consolas"/>
              </a:defRPr>
            </a:pPr>
            <a:r>
              <a:t>MEVREON-CORE-HTS // SECURED RESEARCH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  <a:latin typeface="Trebuchet MS"/>
              </a:defRPr>
            </a:pPr>
            <a:r>
              <a:t>MEVREON BIO-AI PLATFORM : FUTURISTIC EVIDENCE PASSPORT &amp; GAUGES</a:t>
            </a:r>
          </a:p>
        </p:txBody>
      </p:sp>
      <p:pic>
        <p:nvPicPr>
          <p:cNvPr id="4" name="Picture 3" descr="slic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583680" cy="2828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188720"/>
            <a:ext cx="4416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A855F7"/>
                </a:solidFill>
                <a:latin typeface="Trebuchet MS"/>
              </a:defRPr>
            </a:pPr>
            <a:r>
              <a:t>VISIBLE FIELDS &amp; ANALYTICAL FEATURES: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VALIDATION PRIORITY GAUGES: Glowing custom SVG circular progress ring mapping real multi-model scoring formulas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CRITICAL PRECLINICAL FLOW: Step-by-step clinical checklists (MIC assays, CV biofilm assays, FICI Checkerboards, qPCR expression)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FUSION DECISION ENGINE: Multi-agent synthesis summarizing target ranking, escape-bypass risks, and diagnostic panels</a:t>
            </a:r>
          </a:p>
          <a:p>
            <a:pPr>
              <a:spcBef>
                <a:spcPts val="2000"/>
              </a:spcBef>
              <a:defRPr sz="800">
                <a:solidFill>
                  <a:srgbClr val="475569"/>
                </a:solidFill>
                <a:latin typeface="Consolas"/>
              </a:defRPr>
            </a:pPr>
            <a:r>
              <a:t>MEVREON-CORE-HTS // SECURED RESEARCH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  <a:latin typeface="Trebuchet MS"/>
              </a:defRPr>
            </a:pPr>
            <a:r>
              <a:t>MEVREON BIO-AI PLATFORM : FORENSIC LOGS &amp; EXHAUSTIVE ASSET ARCHIVES</a:t>
            </a:r>
          </a:p>
        </p:txBody>
      </p:sp>
      <p:pic>
        <p:nvPicPr>
          <p:cNvPr id="4" name="Picture 3" descr="slic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583680" cy="28700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188720"/>
            <a:ext cx="4416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A855F7"/>
                </a:solidFill>
                <a:latin typeface="Trebuchet MS"/>
              </a:defRPr>
            </a:pPr>
            <a:r>
              <a:t>VISIBLE FIELDS &amp; ANALYTICAL FEATURES: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FORENSIC INTAKE: Detailed execution logging outputting active tokenization, contact calculations, and network coordinates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standalone DOWNLOADS: Live buttons to export the 11 raw files (SDF, PDBQT, JSON, MD) directly from local database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TRACEABILITY VERIFIED: Secure blockchain-ready cryptographic hashes for multi-model verification</a:t>
            </a:r>
          </a:p>
          <a:p>
            <a:pPr>
              <a:spcBef>
                <a:spcPts val="2000"/>
              </a:spcBef>
              <a:defRPr sz="800">
                <a:solidFill>
                  <a:srgbClr val="475569"/>
                </a:solidFill>
                <a:latin typeface="Consolas"/>
              </a:defRPr>
            </a:pPr>
            <a:r>
              <a:t>MEVREON-CORE-HTS // SECURED RESEARCH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