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6B6D4"/>
                </a:solidFill>
                <a:latin typeface="Arial"/>
              </a:defRPr>
            </a:pPr>
            <a:r>
              <a:t>MEVREON BIO-AI IN-SILICO DOCKING PIPELINE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End-to-End Molecular Docking, Generative AI Pose Confidence, Interaction Fingerprints &amp; Evidence Passport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514600" cy="2194560"/>
          </a:xfrm>
          <a:prstGeom prst="roundRect">
            <a:avLst/>
          </a:prstGeom>
          <a:solidFill>
            <a:srgbClr val="0C132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ctr">
              <a:defRPr sz="1000" b="1">
                <a:solidFill>
                  <a:srgbClr val="06B6D4"/>
                </a:solidFill>
                <a:latin typeface="Arial"/>
              </a:defRPr>
            </a:pPr>
            <a:r>
              <a:t>STAGE 01 — LIGAND &amp; TARGET PREP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Structure Conversion &amp; Cleaning</a:t>
            </a:r>
          </a:p>
          <a:p>
            <a:pPr>
              <a:spcBef>
                <a:spcPts val="3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SMILES → 3D Conformers (RDKit ETKDGv3)</a:t>
            </a:r>
          </a:p>
          <a:p>
            <a:pPr>
              <a:spcBef>
                <a:spcPts val="3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PDBQT Format Conversion (OpenBabel)</a:t>
            </a:r>
          </a:p>
          <a:p>
            <a:pPr>
              <a:spcBef>
                <a:spcPts val="3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Receptor Cleaning &amp; Centroid Grid Box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08960" y="2331720"/>
            <a:ext cx="22860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83280" y="1371600"/>
            <a:ext cx="2514600" cy="2194560"/>
          </a:xfrm>
          <a:prstGeom prst="roundRect">
            <a:avLst/>
          </a:prstGeom>
          <a:solidFill>
            <a:srgbClr val="0C1320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ctr">
              <a:defRPr sz="1000" b="1">
                <a:solidFill>
                  <a:srgbClr val="14B8A6"/>
                </a:solidFill>
                <a:latin typeface="Arial"/>
              </a:defRPr>
            </a:pPr>
            <a:r>
              <a:t>STAGE 02 — DUAL AI-PHYSICS DOCKING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Thermodynamics &amp; Generative AI</a:t>
            </a:r>
          </a:p>
          <a:p>
            <a:pPr>
              <a:spcBef>
                <a:spcPts val="3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AutoDock Vina: Physics ΔG (kcal/mol)</a:t>
            </a:r>
          </a:p>
          <a:p>
            <a:pPr>
              <a:spcBef>
                <a:spcPts val="3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DiffDock-L: Generative Diffusion on GPU</a:t>
            </a:r>
          </a:p>
          <a:p>
            <a:pPr>
              <a:spcBef>
                <a:spcPts val="3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Pose Scoring &amp; RMSD Cluster Analysis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43600" y="2331720"/>
            <a:ext cx="228600" cy="27432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514600" cy="2194560"/>
          </a:xfrm>
          <a:prstGeom prst="roundRect">
            <a:avLst/>
          </a:prstGeom>
          <a:solidFill>
            <a:srgbClr val="0C132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ctr">
              <a:defRPr sz="1000" b="1">
                <a:solidFill>
                  <a:srgbClr val="3B82F6"/>
                </a:solidFill>
                <a:latin typeface="Arial"/>
              </a:defRPr>
            </a:pPr>
            <a:r>
              <a:t>STAGE 03 — INTERACTIONS &amp; MOA GRAPH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2D/3D Fingerprints &amp; Pathways</a:t>
            </a:r>
          </a:p>
          <a:p>
            <a:pPr>
              <a:spcBef>
                <a:spcPts val="3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3.5Å Non-Covalent Interaction Parser</a:t>
            </a:r>
          </a:p>
          <a:p>
            <a:pPr>
              <a:spcBef>
                <a:spcPts val="3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H-Bonds, Hydrophobic, Salt Bridges &amp; π-stacking</a:t>
            </a:r>
          </a:p>
          <a:p>
            <a:pPr>
              <a:spcBef>
                <a:spcPts val="3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Mechanism of Action Cascade Graph Builder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78240" y="2331720"/>
            <a:ext cx="228600" cy="27432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52560" y="1371600"/>
            <a:ext cx="2514600" cy="2194560"/>
          </a:xfrm>
          <a:prstGeom prst="roundRect">
            <a:avLst/>
          </a:prstGeom>
          <a:solidFill>
            <a:srgbClr val="0C132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ctr">
              <a:defRPr sz="1000" b="1">
                <a:solidFill>
                  <a:srgbClr val="A855F7"/>
                </a:solidFill>
                <a:latin typeface="Arial"/>
              </a:defRPr>
            </a:pPr>
            <a:r>
              <a:t>STAGE 04 — SCORING &amp; EVIDENCE PASSPORT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Validation Score &amp; 11 Deliverables</a:t>
            </a:r>
          </a:p>
          <a:p>
            <a:pPr>
              <a:spcBef>
                <a:spcPts val="3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Validation Priority Score (0-100)</a:t>
            </a:r>
          </a:p>
          <a:p>
            <a:pPr>
              <a:spcBef>
                <a:spcPts val="3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Preclinical Evidence Passport (.md &amp; .json)</a:t>
            </a:r>
          </a:p>
          <a:p>
            <a:pPr>
              <a:spcBef>
                <a:spcPts val="300"/>
              </a:spcBef>
              <a:defRPr sz="900">
                <a:solidFill>
                  <a:srgbClr val="F1F5F9"/>
                </a:solidFill>
                <a:latin typeface="Arial"/>
              </a:defRPr>
            </a:pPr>
            <a:r>
              <a:t>• 11 Complete Deliverables Package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2514600" cy="2011680"/>
          </a:xfrm>
          <a:prstGeom prst="roundRect">
            <a:avLst/>
          </a:prstGeom>
          <a:solidFill>
            <a:srgbClr val="0C1320"/>
          </a:solidFill>
          <a:ln w="12700">
            <a:solidFill>
              <a:srgbClr val="1E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100" b="1">
                <a:solidFill>
                  <a:srgbClr val="06B6D4"/>
                </a:solidFill>
                <a:latin typeface="Arial"/>
              </a:defRPr>
            </a:pPr>
            <a:r>
              <a:t>INPUT ENGINE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Ligand Libraries &amp; Receptors</a:t>
            </a:r>
          </a:p>
          <a:p>
            <a:pPr>
              <a:lnSpc>
                <a:spcPct val="120000"/>
              </a:lnSpc>
              <a:defRPr sz="850">
                <a:solidFill>
                  <a:srgbClr val="F1F5F9"/>
                </a:solidFill>
                <a:latin typeface="Arial"/>
              </a:defRPr>
            </a:pPr>
            <a:r>
              <a:t>• 24 AYUSH Phytochemicals</a:t>
            </a:r>
            <a:br/>
            <a:r>
              <a:t>• 12 AMR Pathogen Targets</a:t>
            </a:r>
            <a:br/>
            <a:r>
              <a:t>• SMILES Canonical Strings</a:t>
            </a:r>
            <a:br/>
            <a:r>
              <a:t>• PDBQT Coordinate Boxes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3794760"/>
            <a:ext cx="2514600" cy="2011680"/>
          </a:xfrm>
          <a:prstGeom prst="roundRect">
            <a:avLst/>
          </a:prstGeom>
          <a:solidFill>
            <a:srgbClr val="0C1320"/>
          </a:solidFill>
          <a:ln w="12700">
            <a:solidFill>
              <a:srgbClr val="1E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100" b="1">
                <a:solidFill>
                  <a:srgbClr val="14B8A6"/>
                </a:solidFill>
                <a:latin typeface="Arial"/>
              </a:defRPr>
            </a:pPr>
            <a:r>
              <a:t>DOCKING MODELS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Thermodynamics &amp; Generative AI</a:t>
            </a:r>
          </a:p>
          <a:p>
            <a:pPr>
              <a:lnSpc>
                <a:spcPct val="120000"/>
              </a:lnSpc>
              <a:defRPr sz="850">
                <a:solidFill>
                  <a:srgbClr val="F1F5F9"/>
                </a:solidFill>
                <a:latin typeface="Arial"/>
              </a:defRPr>
            </a:pPr>
            <a:r>
              <a:t>• AutoDock Vina Physics Engine</a:t>
            </a:r>
            <a:br/>
            <a:r>
              <a:t>• DiffDock-L GPU Inference</a:t>
            </a:r>
            <a:br/>
            <a:r>
              <a:t>• Binding Energy (ΔG kcal/mol)</a:t>
            </a:r>
            <a:br/>
            <a:r>
              <a:t>• Generative Confidence (+0.792)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94760"/>
            <a:ext cx="2514600" cy="2011680"/>
          </a:xfrm>
          <a:prstGeom prst="roundRect">
            <a:avLst/>
          </a:prstGeom>
          <a:solidFill>
            <a:srgbClr val="0C1320"/>
          </a:solidFill>
          <a:ln w="12700">
            <a:solidFill>
              <a:srgbClr val="1E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100" b="1">
                <a:solidFill>
                  <a:srgbClr val="3B82F6"/>
                </a:solidFill>
                <a:latin typeface="Arial"/>
              </a:defRPr>
            </a:pPr>
            <a:r>
              <a:t>MECHANISM PARSER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Fingerprints &amp; MoA Graph</a:t>
            </a:r>
          </a:p>
          <a:p>
            <a:pPr>
              <a:lnSpc>
                <a:spcPct val="120000"/>
              </a:lnSpc>
              <a:defRPr sz="850">
                <a:solidFill>
                  <a:srgbClr val="F1F5F9"/>
                </a:solidFill>
                <a:latin typeface="Arial"/>
              </a:defRPr>
            </a:pPr>
            <a:r>
              <a:t>• 3.5Å Contact Radius Engine</a:t>
            </a:r>
            <a:br/>
            <a:r>
              <a:t>• 2D/3D Interaction Types</a:t>
            </a:r>
            <a:br/>
            <a:r>
              <a:t>• Pathway Cascade Graphing</a:t>
            </a:r>
            <a:br/>
            <a:r>
              <a:t>• Phenotype Disruption Track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3794760"/>
            <a:ext cx="2514600" cy="2011680"/>
          </a:xfrm>
          <a:prstGeom prst="roundRect">
            <a:avLst/>
          </a:prstGeom>
          <a:solidFill>
            <a:srgbClr val="0C1320"/>
          </a:solidFill>
          <a:ln w="12700">
            <a:solidFill>
              <a:srgbClr val="1E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100" b="1">
                <a:solidFill>
                  <a:srgbClr val="A855F7"/>
                </a:solidFill>
                <a:latin typeface="Arial"/>
              </a:defRPr>
            </a:pPr>
            <a:r>
              <a:t>EVIDENCE ENGINE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850">
                <a:solidFill>
                  <a:srgbClr val="94A3B8"/>
                </a:solidFill>
                <a:latin typeface="Arial"/>
              </a:defRPr>
            </a:pPr>
            <a:r>
              <a:t>Prioritization &amp; Passport</a:t>
            </a:r>
          </a:p>
          <a:p>
            <a:pPr>
              <a:lnSpc>
                <a:spcPct val="120000"/>
              </a:lnSpc>
              <a:defRPr sz="850">
                <a:solidFill>
                  <a:srgbClr val="F1F5F9"/>
                </a:solidFill>
                <a:latin typeface="Arial"/>
              </a:defRPr>
            </a:pPr>
            <a:r>
              <a:t>• Multi-Factor Scoring (0-100)</a:t>
            </a:r>
            <a:br/>
            <a:r>
              <a:t>• High Priority Lead Decision</a:t>
            </a:r>
            <a:br/>
            <a:r>
              <a:t>• 11 Deliverable Files Output</a:t>
            </a:r>
            <a:br/>
            <a:r>
              <a:t>• Preclinical Audit Passport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943600"/>
            <a:ext cx="11094415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  <a:latin typeface="Arial"/>
              </a:defRPr>
            </a:pPr>
            <a:r>
              <a:t>⚡ 288 DOCKING PAIRS PRE-COMPUTED  |  12 AMR TARGETS  |  24 AYUSH COMPOUNDS  |  11 FORENSIC DELIVERABLES  |  NVIDIA L4 GPU ACCELERATED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