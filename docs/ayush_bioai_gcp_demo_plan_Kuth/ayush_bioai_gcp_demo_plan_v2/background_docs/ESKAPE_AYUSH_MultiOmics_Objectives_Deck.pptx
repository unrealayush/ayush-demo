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E9F7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a_clean_high_tech_infographic_style_scientific_ill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70778"/>
            <a:ext cx="5577840" cy="31392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92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658368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E8E8"/>
                </a:solidFill>
              </a:rPr>
              <a:t>Materials &amp; Methods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13232" y="1243584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ESKAPE Multi‑Omics &amp; AYUSH Adjunct Discovery Program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31520" y="2779776"/>
            <a:ext cx="4206240" cy="0"/>
          </a:xfrm>
          <a:prstGeom prst="line">
            <a:avLst/>
          </a:prstGeom>
          <a:noFill/>
          <a:ln w="27940">
            <a:solidFill>
              <a:srgbClr val="0B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12724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9E7EE"/>
                </a:solidFill>
              </a:rPr>
              <a:t>Six-objective translational workflow integrating WGS, RNA‑Seq, LC/GC‑MS, in vitro AYUSH bioactivity screening, AI modeling, and in vivo multi‑omics.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B9CBD6"/>
                </a:solidFill>
              </a:rPr>
              <a:t>Goal: build an India-specific clinical isolate repository and discover AYUSH–antibiotic combination signatures for MDR ESKAPE pathogens.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731520" y="601675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DECEC"/>
                </a:solidFill>
              </a:rPr>
              <a:t>Enterococcus faecium • Staphylococcus aureus • Klebsiella pneumoniae • Acinetobacter baumannii • Pseudomonas aeruginosa • Enterobacter spp.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Six-objective study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hospital MDR isolates to AI-prioritized AYUSH–antibiotic regimens and translational biomarkers</a:t>
            </a:r>
            <a:endParaRPr lang="en-US" sz="1080" dirty="0"/>
          </a:p>
        </p:txBody>
      </p:sp>
      <p:pic>
        <p:nvPicPr>
          <p:cNvPr id="6" name="Image 0" descr="/mnt/data/a_clean_infographic_style_medical_scientific_illu_batch_1.png">    </p:cNvPr>
          <p:cNvPicPr>
            <a:picLocks noChangeAspect="1"/>
          </p:cNvPicPr>
          <p:nvPr/>
        </p:nvPicPr>
        <p:blipFill>
          <a:blip r:embed="rId1"/>
          <a:srcRect l="27" r="27" t="0" b="0"/>
          <a:stretch/>
        </p:blipFill>
        <p:spPr>
          <a:xfrm>
            <a:off x="6720840" y="1234440"/>
            <a:ext cx="470916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9264" y="1975104"/>
            <a:ext cx="0" cy="219456"/>
          </a:xfrm>
          <a:prstGeom prst="line">
            <a:avLst/>
          </a:prstGeom>
          <a:noFill/>
          <a:ln w="13970">
            <a:solidFill>
              <a:srgbClr val="D8E3E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969264" y="2633472"/>
            <a:ext cx="0" cy="219456"/>
          </a:xfrm>
          <a:prstGeom prst="line">
            <a:avLst/>
          </a:prstGeom>
          <a:noFill/>
          <a:ln w="13970">
            <a:solidFill>
              <a:srgbClr val="D8E3E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969264" y="3291840"/>
            <a:ext cx="0" cy="219456"/>
          </a:xfrm>
          <a:prstGeom prst="line">
            <a:avLst/>
          </a:prstGeom>
          <a:noFill/>
          <a:ln w="13970">
            <a:solidFill>
              <a:srgbClr val="D8E3E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69264" y="3950208"/>
            <a:ext cx="0" cy="219456"/>
          </a:xfrm>
          <a:prstGeom prst="line">
            <a:avLst/>
          </a:prstGeom>
          <a:noFill/>
          <a:ln w="13970">
            <a:solidFill>
              <a:srgbClr val="D8E3E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69264" y="4608576"/>
            <a:ext cx="0" cy="219456"/>
          </a:xfrm>
          <a:prstGeom prst="line">
            <a:avLst/>
          </a:prstGeom>
          <a:noFill/>
          <a:ln w="13970">
            <a:solidFill>
              <a:srgbClr val="D8E3E8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13232" y="1472184"/>
            <a:ext cx="512064" cy="5120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163220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01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1426464" y="147218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92C4C"/>
                </a:solidFill>
              </a:rPr>
              <a:t>Clinical WGS repository</a:t>
            </a:r>
            <a:endParaRPr lang="en-US" sz="1160" dirty="0"/>
          </a:p>
        </p:txBody>
      </p:sp>
      <p:sp>
        <p:nvSpPr>
          <p:cNvPr id="15" name="Text 12"/>
          <p:cNvSpPr/>
          <p:nvPr/>
        </p:nvSpPr>
        <p:spPr>
          <a:xfrm>
            <a:off x="1426464" y="17190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070"/>
                </a:solidFill>
              </a:rPr>
              <a:t>500 MDR isolates, resistome, mobilome and phylogeny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713232" y="2130552"/>
            <a:ext cx="512064" cy="5120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" y="229057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02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1426464" y="213055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92C4C"/>
                </a:solidFill>
              </a:rPr>
              <a:t>RNA‑Seq atlas</a:t>
            </a:r>
            <a:endParaRPr lang="en-US" sz="1160" dirty="0"/>
          </a:p>
        </p:txBody>
      </p:sp>
      <p:sp>
        <p:nvSpPr>
          <p:cNvPr id="19" name="Text 16"/>
          <p:cNvSpPr/>
          <p:nvPr/>
        </p:nvSpPr>
        <p:spPr>
          <a:xfrm>
            <a:off x="1426464" y="23774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070"/>
                </a:solidFill>
              </a:rPr>
              <a:t>Untreated vs antibiotic vs AYUSH exposure signatures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713232" y="278892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" y="294894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03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1426464" y="278892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92C4C"/>
                </a:solidFill>
              </a:rPr>
              <a:t>Metabolome atlas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1426464" y="30358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070"/>
                </a:solidFill>
              </a:rPr>
              <a:t>LC‑MS/GC‑MS pathway and biomarker shifts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713232" y="3447288"/>
            <a:ext cx="512064" cy="5120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" y="360730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04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1426464" y="344728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92C4C"/>
                </a:solidFill>
              </a:rPr>
              <a:t>Bioactivity screen</a:t>
            </a:r>
            <a:endParaRPr lang="en-US" sz="1160" dirty="0"/>
          </a:p>
        </p:txBody>
      </p:sp>
      <p:sp>
        <p:nvSpPr>
          <p:cNvPr id="27" name="Text 24"/>
          <p:cNvSpPr/>
          <p:nvPr/>
        </p:nvSpPr>
        <p:spPr>
          <a:xfrm>
            <a:off x="1426464" y="369417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070"/>
                </a:solidFill>
              </a:rPr>
              <a:t>MIC, biofilm inhibition and synergy matrix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713232" y="4105656"/>
            <a:ext cx="512064" cy="5120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" y="426567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05</a:t>
            </a:r>
            <a:endParaRPr lang="en-US" sz="870" dirty="0"/>
          </a:p>
        </p:txBody>
      </p:sp>
      <p:sp>
        <p:nvSpPr>
          <p:cNvPr id="30" name="Text 27"/>
          <p:cNvSpPr/>
          <p:nvPr/>
        </p:nvSpPr>
        <p:spPr>
          <a:xfrm>
            <a:off x="1426464" y="4105656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92C4C"/>
                </a:solidFill>
              </a:rPr>
              <a:t>Multimodal AI</a:t>
            </a:r>
            <a:endParaRPr lang="en-US" sz="1160" dirty="0"/>
          </a:p>
        </p:txBody>
      </p:sp>
      <p:sp>
        <p:nvSpPr>
          <p:cNvPr id="31" name="Text 28"/>
          <p:cNvSpPr/>
          <p:nvPr/>
        </p:nvSpPr>
        <p:spPr>
          <a:xfrm>
            <a:off x="1426464" y="435254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070"/>
                </a:solidFill>
              </a:rPr>
              <a:t>Predict efficacy and prioritize combinations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713232" y="4764024"/>
            <a:ext cx="512064" cy="5120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" y="492404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06</a:t>
            </a:r>
            <a:endParaRPr lang="en-US" sz="870" dirty="0"/>
          </a:p>
        </p:txBody>
      </p:sp>
      <p:sp>
        <p:nvSpPr>
          <p:cNvPr id="34" name="Text 31"/>
          <p:cNvSpPr/>
          <p:nvPr/>
        </p:nvSpPr>
        <p:spPr>
          <a:xfrm>
            <a:off x="1426464" y="4764024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092C4C"/>
                </a:solidFill>
              </a:rPr>
              <a:t>In vivo translation</a:t>
            </a:r>
            <a:endParaRPr lang="en-US" sz="1160" dirty="0"/>
          </a:p>
        </p:txBody>
      </p:sp>
      <p:sp>
        <p:nvSpPr>
          <p:cNvPr id="35" name="Text 32"/>
          <p:cNvSpPr/>
          <p:nvPr/>
        </p:nvSpPr>
        <p:spPr>
          <a:xfrm>
            <a:off x="1426464" y="50109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16070"/>
                </a:solidFill>
              </a:rPr>
              <a:t>Host–pathogen biomarkers in mouse model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6720840" y="4224528"/>
            <a:ext cx="47091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8E3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67728" y="44531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A6A6"/>
                </a:solidFill>
              </a:rPr>
              <a:t>Common design principle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967728" y="4773168"/>
            <a:ext cx="4233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B1F33"/>
                </a:solidFill>
              </a:rPr>
              <a:t>Every sample carries a common isolate ID, exposure metadata, QC status, phenotype readouts and omics feature matrices.</a:t>
            </a:r>
            <a:endParaRPr lang="en-US" sz="1180" dirty="0"/>
          </a:p>
        </p:txBody>
      </p:sp>
      <p:sp>
        <p:nvSpPr>
          <p:cNvPr id="39" name="Text 36"/>
          <p:cNvSpPr/>
          <p:nvPr/>
        </p:nvSpPr>
        <p:spPr>
          <a:xfrm>
            <a:off x="713232" y="57790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BA6A6"/>
                </a:solidFill>
              </a:rPr>
              <a:t>Primary endpoint: ranked compound–pathogen response matrix</a:t>
            </a:r>
            <a:endParaRPr lang="en-US" sz="1220" dirty="0"/>
          </a:p>
        </p:txBody>
      </p:sp>
      <p:sp>
        <p:nvSpPr>
          <p:cNvPr id="40" name="Text 37"/>
          <p:cNvSpPr/>
          <p:nvPr/>
        </p:nvSpPr>
        <p:spPr>
          <a:xfrm>
            <a:off x="713232" y="60533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070"/>
                </a:solidFill>
              </a:rPr>
              <a:t>Secondary endpoint: biomarker signatures for treatment response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1 — Clinical Genomic Surveillance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Collect, culture, sequence, and annotate 500 MDR ESKAPE clinical isolates from tertiary-care hospitals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0661904" y="411480"/>
            <a:ext cx="960120" cy="237744"/>
          </a:xfrm>
          <a:prstGeom prst="roundRect">
            <a:avLst>
              <a:gd name="adj" fmla="val 26923"/>
            </a:avLst>
          </a:prstGeom>
          <a:solidFill>
            <a:srgbClr val="0BA6A6">
              <a:alpha val="93000"/>
            </a:srgbClr>
          </a:solidFill>
          <a:ln w="12700">
            <a:solidFill>
              <a:srgbClr val="0BA6A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4617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 1</a:t>
            </a:r>
            <a:endParaRPr lang="en-US" sz="750" dirty="0"/>
          </a:p>
        </p:txBody>
      </p:sp>
      <p:pic>
        <p:nvPicPr>
          <p:cNvPr id="8" name="Image 0" descr="/mnt/data/a_clean_infographic_style_medical_scientific_illu_batch_1.png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6949440" y="1234440"/>
            <a:ext cx="4617720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4041648"/>
            <a:ext cx="4617720" cy="18288"/>
          </a:xfrm>
          <a:prstGeom prst="rect">
            <a:avLst/>
          </a:prstGeom>
          <a:solidFill>
            <a:srgbClr val="D8E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methods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Prospective isolate collection with source, ward, antibiogram and de-identified metadata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Species confirmation by MALDI/biochemical methods plus AST-linked resistance phenotype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432304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WGS library preparation; Illumina short-read sequencing with optional long-read plasmid closure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703320" y="137160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&amp; QC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703320" y="1719072"/>
            <a:ext cx="54864" cy="548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1664208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QC, de novo assembly, contamination/completeness checks and species confirmation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703320" y="2103120"/>
            <a:ext cx="54864" cy="548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1336" y="2048256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ARG, plasmid, integron, transposon and virulence annotation using curated databases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3703320" y="2487168"/>
            <a:ext cx="54864" cy="54864"/>
          </a:xfrm>
          <a:prstGeom prst="ellipse">
            <a:avLst/>
          </a:prstGeom>
          <a:solidFill>
            <a:srgbClr val="0BA6A6"/>
          </a:solidFill>
          <a:ln w="12700">
            <a:solidFill>
              <a:srgbClr val="0BA6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31336" y="2432304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Core-genome phylogeny, MLST/cgMLST, pan-genome clustering and outbreak relatedness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949440" y="4315968"/>
            <a:ext cx="4617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8E3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87184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A6A6"/>
                </a:solidFill>
              </a:rPr>
              <a:t>Defined deliverable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87184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2C4C"/>
                </a:solidFill>
              </a:rPr>
              <a:t>India-specific WGS repository of 500 ESKAPE isolates with full resistome, mobilome and phylogenomic classification.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2 — Transcriptomic Profiling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RNA‑Seq of representative isolates under untreated, sub‑MIC antibiotic, and AYUSH compound exposure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0661904" y="411480"/>
            <a:ext cx="960120" cy="237744"/>
          </a:xfrm>
          <a:prstGeom prst="roundRect">
            <a:avLst>
              <a:gd name="adj" fmla="val 26923"/>
            </a:avLst>
          </a:prstGeom>
          <a:solidFill>
            <a:srgbClr val="7C3AED">
              <a:alpha val="93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4617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 2</a:t>
            </a:r>
            <a:endParaRPr lang="en-US" sz="750" dirty="0"/>
          </a:p>
        </p:txBody>
      </p:sp>
      <p:pic>
        <p:nvPicPr>
          <p:cNvPr id="8" name="Image 0" descr="/mnt/data/wide_scientific_infographic_illustration_scene_cl_batch_2.png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6949440" y="1234440"/>
            <a:ext cx="4617720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4041648"/>
            <a:ext cx="4617720" cy="18288"/>
          </a:xfrm>
          <a:prstGeom prst="rect">
            <a:avLst/>
          </a:prstGeom>
          <a:solidFill>
            <a:srgbClr val="D8E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methods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isolates spanning six species, major resistance classes and WGS-defined lineages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exposure arms: normal growth, sub-MIC conventional antibiotic, AYUSH bioactive compound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432304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Time-matched RNA stabilization, rRNA depletion and stranded bacterial RNA‑Seq libraries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703320" y="137160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&amp; QC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703320" y="1719072"/>
            <a:ext cx="54864" cy="548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1664208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FastQC/read trimming, host/rRNA depletion checks, genome-guided alignment and gene counts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703320" y="2103120"/>
            <a:ext cx="54864" cy="548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1336" y="2048256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expression, pathway enrichment and stress-response module analysis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3703320" y="2487168"/>
            <a:ext cx="54864" cy="5486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31336" y="2432304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AYUSH-modulated signatures against antibiotic-induced response programs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949440" y="4315968"/>
            <a:ext cx="4617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8E3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87184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Defined deliverable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87184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2C4C"/>
                </a:solidFill>
              </a:rPr>
              <a:t>Condition-specific transcriptome atlases and gene modules perturbed by AYUSH compounds versus conventional antimicrobials.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3 — Metabolomic Characterization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Untargeted and targeted LC‑MS/GC‑MS profiling to reveal metabolic and virulence-linked shifts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0661904" y="411480"/>
            <a:ext cx="960120" cy="237744"/>
          </a:xfrm>
          <a:prstGeom prst="roundRect">
            <a:avLst>
              <a:gd name="adj" fmla="val 26923"/>
            </a:avLst>
          </a:prstGeom>
          <a:solidFill>
            <a:srgbClr val="F59E0B">
              <a:alpha val="93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4617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 3</a:t>
            </a:r>
            <a:endParaRPr lang="en-US" sz="750" dirty="0"/>
          </a:p>
        </p:txBody>
      </p:sp>
      <p:pic>
        <p:nvPicPr>
          <p:cNvPr id="8" name="Image 0" descr="/mnt/data/a_wide_scientific_infographic_scene_on_a_white_lig_batch_3.png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6949440" y="1234440"/>
            <a:ext cx="4617720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4041648"/>
            <a:ext cx="4617720" cy="18288"/>
          </a:xfrm>
          <a:prstGeom prst="rect">
            <a:avLst/>
          </a:prstGeom>
          <a:solidFill>
            <a:srgbClr val="D8E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methods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cultures from untreated, antibiotic-treated and AYUSH-treated conditions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Quenched biomass plus extracellular metabolite extraction with internal standards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432304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Untargeted LC‑MS/GC‑MS, followed by targeted validation of selected pathway metabolites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703320" y="137160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&amp; QC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703320" y="1719072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1664208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picking, alignment, normalization, batch correction and QC pooled-sample monitoring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703320" y="2103120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1336" y="2048256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Metabolite annotation, pathway mapping and differential abundance testing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3703320" y="2487168"/>
            <a:ext cx="54864" cy="548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31336" y="2432304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metabolites with DE genes to identify disrupted biosynthetic nodes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949440" y="4315968"/>
            <a:ext cx="4617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8E3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87184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Defined deliverable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87184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2C4C"/>
                </a:solidFill>
              </a:rPr>
              <a:t>Comparative metabolite datasets identifying AYUSH-responsive metabolic signatures and candidate biomarkers for treatment monitoring.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4 — AYUSH Compound Bioactivity Screening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30–50 curated AYUSH-derived phytochemicals against MDR clinical isolates of all ESKAPE species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0661904" y="411480"/>
            <a:ext cx="960120" cy="237744"/>
          </a:xfrm>
          <a:prstGeom prst="roundRect">
            <a:avLst>
              <a:gd name="adj" fmla="val 26923"/>
            </a:avLst>
          </a:prstGeom>
          <a:solidFill>
            <a:srgbClr val="2E8B57">
              <a:alpha val="93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4617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 4</a:t>
            </a:r>
            <a:endParaRPr lang="en-US" sz="750" dirty="0"/>
          </a:p>
        </p:txBody>
      </p:sp>
      <p:pic>
        <p:nvPicPr>
          <p:cNvPr id="8" name="Image 0" descr="/mnt/data/a_clean_scientific_infographic_illustration_coll_batch_4.png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6949440" y="1234440"/>
            <a:ext cx="4617720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4041648"/>
            <a:ext cx="4617720" cy="18288"/>
          </a:xfrm>
          <a:prstGeom prst="rect">
            <a:avLst/>
          </a:prstGeom>
          <a:solidFill>
            <a:srgbClr val="D8E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methods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compound library from Ayurveda, Unani and Siddha pharmacopoeias; purity and solubility tracked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Broth microdilution MIC/MBC assays across representative MDR isolate panels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432304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Crystal-violet biofilm assay, viable biofilm counts and checkerboard antibiotic synergy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703320" y="137160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&amp; QC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703320" y="1719072"/>
            <a:ext cx="54864" cy="548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1664208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matrix by species, genotype, resistance phenotype and exposure concentration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703320" y="2103120"/>
            <a:ext cx="54864" cy="548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1336" y="2048256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FICI/bliss-style synergy analysis with reproducibility thresholds and cytotoxicity flags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3703320" y="2487168"/>
            <a:ext cx="54864" cy="548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31336" y="2432304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compounds by potency, biofilm inhibition, synergy and multi-species breadth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949440" y="4315968"/>
            <a:ext cx="4617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8E3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87184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Defined deliverable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87184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2C4C"/>
                </a:solidFill>
              </a:rPr>
              <a:t>Validated AYUSH compound–ESKAPE activity matrix with MIC, anti-biofilm potency and synergy indices.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5 — AI-Guided Multimodal Integration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 web-accessible model integrating genomics, transcriptomics, metabolomics and phenotypic response data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0661904" y="411480"/>
            <a:ext cx="960120" cy="237744"/>
          </a:xfrm>
          <a:prstGeom prst="roundRect">
            <a:avLst>
              <a:gd name="adj" fmla="val 26923"/>
            </a:avLst>
          </a:prstGeom>
          <a:solidFill>
            <a:srgbClr val="3B82F6">
              <a:alpha val="93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4617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 5</a:t>
            </a:r>
            <a:endParaRPr lang="en-US" sz="750" dirty="0"/>
          </a:p>
        </p:txBody>
      </p:sp>
      <p:pic>
        <p:nvPicPr>
          <p:cNvPr id="8" name="Image 0" descr="/mnt/data/a_clean_high_tech_infographic_style_scientific_ill_batch_5.png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6949440" y="1234440"/>
            <a:ext cx="4617720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4041648"/>
            <a:ext cx="4617720" cy="18288"/>
          </a:xfrm>
          <a:prstGeom prst="rect">
            <a:avLst/>
          </a:prstGeom>
          <a:solidFill>
            <a:srgbClr val="D8E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methods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common isolate–condition–compound data model and harmonized feature tables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Inputs: ARGs, plasmids, SNP/cgMLST, expression modules, metabolites, MIC/biofilm/FICI outcomes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432304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interpretable ML models and multimodal embeddings for compound-response prediction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703320" y="137160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&amp; QC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703320" y="1719072"/>
            <a:ext cx="54864" cy="548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1664208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cross-validation, species-stratified test splits and calibration analysis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703320" y="2103120"/>
            <a:ext cx="54864" cy="548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1336" y="2048256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attribution to identify genotypes, pathways and metabolites linked to response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3703320" y="2487168"/>
            <a:ext cx="54864" cy="548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31336" y="2432304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AYUSH–antibiotic combinations for each species/resistance profile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949440" y="4315968"/>
            <a:ext cx="4617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8E3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87184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Defined deliverable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87184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2C4C"/>
                </a:solidFill>
              </a:rPr>
              <a:t>Validated multimodal AI prototype that predicts AYUSH compound efficacy and prioritizes combination regimens.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6 — In vivo Multi‑Omics &amp; Translational Signatures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pathogen omics with infected mouse host transcriptomics/metabolomics under adjunct treatment protocols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0661904" y="411480"/>
            <a:ext cx="960120" cy="237744"/>
          </a:xfrm>
          <a:prstGeom prst="roundRect">
            <a:avLst>
              <a:gd name="adj" fmla="val 26923"/>
            </a:avLst>
          </a:prstGeom>
          <a:solidFill>
            <a:srgbClr val="C13F73">
              <a:alpha val="93000"/>
            </a:srgbClr>
          </a:solidFill>
          <a:ln w="12700">
            <a:solidFill>
              <a:srgbClr val="C13F7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44200" y="46177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OBJ 6</a:t>
            </a:r>
            <a:endParaRPr lang="en-US" sz="750" dirty="0"/>
          </a:p>
        </p:txBody>
      </p:sp>
      <p:pic>
        <p:nvPicPr>
          <p:cNvPr id="8" name="Image 0" descr="/mnt/data/a_clean_biomedical_infographic_scientific_illust_batch_6.png">    </p:cNvPr>
          <p:cNvPicPr>
            <a:picLocks noChangeAspect="1"/>
          </p:cNvPicPr>
          <p:nvPr/>
        </p:nvPicPr>
        <p:blipFill>
          <a:blip r:embed="rId1"/>
          <a:srcRect l="0" r="0" t="38" b="38"/>
          <a:stretch/>
        </p:blipFill>
        <p:spPr>
          <a:xfrm>
            <a:off x="6949440" y="1234440"/>
            <a:ext cx="4617720" cy="25968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49440" y="4041648"/>
            <a:ext cx="4617720" cy="18288"/>
          </a:xfrm>
          <a:prstGeom prst="rect">
            <a:avLst/>
          </a:prstGeom>
          <a:solidFill>
            <a:srgbClr val="D8E3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7160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3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Wet-lab methods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719072"/>
            <a:ext cx="54864" cy="548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664208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infection models with selected MDR isolates and treatment arms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40080" y="2103120"/>
            <a:ext cx="54864" cy="548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infected tissue, blood/serum and pathogen load measurements at defined timepoints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40080" y="2487168"/>
            <a:ext cx="54864" cy="548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" y="2432304"/>
            <a:ext cx="277977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host transcriptome/metabolome alongside recovered pathogen phenotypes and omics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3703320" y="1371600"/>
            <a:ext cx="2816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3F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analytics &amp; QC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3703320" y="1719072"/>
            <a:ext cx="54864" cy="548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31336" y="1664208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host inflammation, pathogen burden, survival/clinical score and omics signatures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703320" y="2103120"/>
            <a:ext cx="54864" cy="548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31336" y="2048256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response-linked biomarker panels and compare with in vitro prediction outputs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3703320" y="2487168"/>
            <a:ext cx="54864" cy="54864"/>
          </a:xfrm>
          <a:prstGeom prst="ellipse">
            <a:avLst/>
          </a:prstGeom>
          <a:solidFill>
            <a:srgbClr val="C13F73"/>
          </a:solidFill>
          <a:ln w="12700">
            <a:solidFill>
              <a:srgbClr val="C13F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31336" y="2432304"/>
            <a:ext cx="26883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translational signatures to guide future patient stratification assays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949440" y="4315968"/>
            <a:ext cx="46177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8890">
            <a:solidFill>
              <a:srgbClr val="D8E3E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187184" y="4535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3F73"/>
                </a:solidFill>
              </a:rPr>
              <a:t>Defined deliverable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87184" y="4837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92C4C"/>
                </a:solidFill>
              </a:rPr>
              <a:t>Proof-of-concept translational dataset and candidate multi-omics biomarkers for AYUSH-adjunct response prediction.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92C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Cross-cutting quality, governance and final outputs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822960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metadata, assay QC, reproducible bioinformatics and model validation across the six objectives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1603858" y="1577340"/>
            <a:ext cx="201168" cy="0"/>
          </a:xfrm>
          <a:prstGeom prst="line">
            <a:avLst/>
          </a:prstGeom>
          <a:noFill/>
          <a:ln w="16510">
            <a:solidFill>
              <a:srgbClr val="0BA6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68803" y="1577340"/>
            <a:ext cx="201168" cy="0"/>
          </a:xfrm>
          <a:prstGeom prst="line">
            <a:avLst/>
          </a:prstGeom>
          <a:noFill/>
          <a:ln w="16510">
            <a:solidFill>
              <a:srgbClr val="0BA6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3749" y="1577340"/>
            <a:ext cx="201168" cy="0"/>
          </a:xfrm>
          <a:prstGeom prst="line">
            <a:avLst/>
          </a:prstGeom>
          <a:noFill/>
          <a:ln w="16510">
            <a:solidFill>
              <a:srgbClr val="0BA6A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98694" y="1577340"/>
            <a:ext cx="201168" cy="0"/>
          </a:xfrm>
          <a:prstGeom prst="line">
            <a:avLst/>
          </a:prstGeom>
          <a:noFill/>
          <a:ln w="16510">
            <a:solidFill>
              <a:srgbClr val="0BA6A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1325880"/>
            <a:ext cx="96377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BA6A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1435608"/>
            <a:ext cx="817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3"/>
                </a:solidFill>
              </a:rPr>
              <a:t>Isolate ID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805026" y="1325880"/>
            <a:ext cx="96377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BA6A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8178" y="1435608"/>
            <a:ext cx="817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3"/>
                </a:solidFill>
              </a:rPr>
              <a:t>Wet-lab QC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969971" y="1325880"/>
            <a:ext cx="96377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BA6A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43123" y="1435608"/>
            <a:ext cx="817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3"/>
                </a:solidFill>
              </a:rPr>
              <a:t>Omics matrices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4134917" y="1325880"/>
            <a:ext cx="96377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BA6A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08069" y="1435608"/>
            <a:ext cx="817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3"/>
                </a:solidFill>
              </a:rPr>
              <a:t>Response labels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299862" y="1325880"/>
            <a:ext cx="96377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BA6A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73014" y="1435608"/>
            <a:ext cx="817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33"/>
                </a:solidFill>
              </a:rPr>
              <a:t>AI model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40080" y="2395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C4C"/>
                </a:solidFill>
              </a:rPr>
              <a:t>Repository contents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" y="274320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B1F33"/>
                </a:solidFill>
              </a:rPr>
              <a:t>• WGS assemblies, ARG/mobilome/virulome tables and phylogenomic labels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1F33"/>
                </a:solidFill>
              </a:rPr>
              <a:t>• RNA‑Seq count matrices, DE results and pathway modules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1F33"/>
                </a:solidFill>
              </a:rPr>
              <a:t>• LC‑MS/GC‑MS feature tables, annotated metabolites and pathway shifts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1F33"/>
                </a:solidFill>
              </a:rPr>
              <a:t>• MIC/MBC, biofilm inhibition and synergy matrices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B1F33"/>
                </a:solidFill>
              </a:rPr>
              <a:t>• AI-ready multi-omics feature store plus web prototype outputs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640080" y="46451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2C4C"/>
                </a:solidFill>
              </a:rPr>
              <a:t>Validation logic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992624"/>
            <a:ext cx="5376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BA6A6"/>
                </a:solidFill>
              </a:rPr>
              <a:t>Assay reproducibility → cross-omics concordance → phenotype prediction → in vivo translational confirmation.</a:t>
            </a:r>
            <a:endParaRPr lang="en-US" sz="1280" dirty="0"/>
          </a:p>
        </p:txBody>
      </p:sp>
      <p:pic>
        <p:nvPicPr>
          <p:cNvPr id="24" name="Image 0" descr="/mnt/data/a_clean_high_tech_infographic_style_scientific_ill_batch_5.png">    </p:cNvPr>
          <p:cNvPicPr>
            <a:picLocks noChangeAspect="1"/>
          </p:cNvPicPr>
          <p:nvPr/>
        </p:nvPicPr>
        <p:blipFill>
          <a:blip r:embed="rId1"/>
          <a:srcRect l="0" r="0" t="68" b="68"/>
          <a:stretch/>
        </p:blipFill>
        <p:spPr>
          <a:xfrm>
            <a:off x="6675120" y="1188720"/>
            <a:ext cx="4864608" cy="273405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675120" y="4069080"/>
            <a:ext cx="4864608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3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43068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Final grant-facing outputs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059168" y="468172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1. India-specific WGS 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2. Transcriptome + metabolome atlases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3. Ranked AYUSH activity 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4. Multimodal AI prediction prototype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</a:rPr>
              <a:t>5. In vivo response-linked biomarker panel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75120" y="5779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i="1" dirty="0">
                <a:solidFill>
                  <a:srgbClr val="516070"/>
                </a:solidFill>
              </a:rPr>
              <a:t>Study-ready for grant submission, partner onboarding and assay SOP finalization.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502920" y="652881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A8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ESKAPE multi-omics + AYUSH-adjunct discovery program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1475720" y="64556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Mevreon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ESKAPE Multi-Omics &amp; AYUSH Adjunct Discovery Program</dc:title>
  <dc:subject>ESKAPE pathogen multi-omics study plan</dc:subject>
  <dc:creator>OpenAI</dc:creator>
  <cp:lastModifiedBy>OpenAI</cp:lastModifiedBy>
  <cp:revision>1</cp:revision>
  <dcterms:created xsi:type="dcterms:W3CDTF">2026-06-04T01:17:17Z</dcterms:created>
  <dcterms:modified xsi:type="dcterms:W3CDTF">2026-06-04T01:17:17Z</dcterms:modified>
</cp:coreProperties>
</file>