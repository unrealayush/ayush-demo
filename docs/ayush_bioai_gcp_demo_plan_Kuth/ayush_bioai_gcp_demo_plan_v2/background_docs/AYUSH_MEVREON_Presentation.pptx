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0972800" cy="7315200"/>
  <p:notesSz cx="7315200" cy="10972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86C83E-0D03-48CD-893F-EA7FB9FADC00}" v="1" dt="2026-06-01T13:03:34.1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72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shant agrawal" userId="52b7adcffb59585c" providerId="LiveId" clId="{D64F3E60-FA48-4ED8-B9D4-00C17C126CF2}"/>
    <pc:docChg chg="addSld delSld modSld sldOrd">
      <pc:chgData name="nishant agrawal" userId="52b7adcffb59585c" providerId="LiveId" clId="{D64F3E60-FA48-4ED8-B9D4-00C17C126CF2}" dt="2026-06-03T04:58:21.641" v="7" actId="2696"/>
      <pc:docMkLst>
        <pc:docMk/>
      </pc:docMkLst>
      <pc:sldChg chg="add del setBg">
        <pc:chgData name="nishant agrawal" userId="52b7adcffb59585c" providerId="LiveId" clId="{D64F3E60-FA48-4ED8-B9D4-00C17C126CF2}" dt="2026-06-03T04:58:21.641" v="7" actId="2696"/>
        <pc:sldMkLst>
          <pc:docMk/>
          <pc:sldMk cId="2578540902" sldId="2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5508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5508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545942-37DF-2C4F-AD95-A4D016F4BDF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79475" y="1371600"/>
            <a:ext cx="5556250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5280025"/>
            <a:ext cx="5851525" cy="43211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423525"/>
            <a:ext cx="3170238" cy="5492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10423525"/>
            <a:ext cx="3170238" cy="5492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A74C44-DFC0-4F45-B6D2-8BBC2BAB2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656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871B0-49A0-DB87-3075-DFCECBDB2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65A1FC-15FF-BFBE-EC3E-B303B6EDCE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C12FCB-46CF-F863-6D18-F162C85099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architecture represents </a:t>
            </a:r>
            <a:r>
              <a:rPr lang="en-US"/>
              <a:t>the translational </a:t>
            </a:r>
            <a:r>
              <a:rPr lang="en-US" dirty="0"/>
              <a:t>layer of the original proposal, where standardized AYUSH candidates, AMR pathogen biology, clinical profiling, and selected host multi-omics are fused into an explainable ranking engine for AYUSH-only and AYUSH–antimicrobial combination decisions.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091457-91FD-FC77-D7A7-B8CD376DF2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8468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D9512-75B8-A0A3-5E14-0220B8912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A8B9F9C-8F1E-EE3F-FF0C-C0B022ADB751}"/>
              </a:ext>
            </a:extLst>
          </p:cNvPr>
          <p:cNvSpPr/>
          <p:nvPr/>
        </p:nvSpPr>
        <p:spPr>
          <a:xfrm>
            <a:off x="747672" y="58496"/>
            <a:ext cx="8597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50" b="1" i="0" u="none" strike="noStrike" kern="1200" cap="none" spc="0" normalizeH="0" baseline="0" noProof="0" dirty="0">
                <a:ln>
                  <a:noFill/>
                </a:ln>
                <a:solidFill>
                  <a:srgbClr val="263C6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From AYUSH, Pathogen, and Host Biology to Ranked Anti-Infective Decisions</a:t>
            </a:r>
            <a:endParaRPr kumimoji="0" lang="en-US" sz="2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71F5032-02E7-2B20-39E8-9BEE52E59C22}"/>
              </a:ext>
            </a:extLst>
          </p:cNvPr>
          <p:cNvSpPr/>
          <p:nvPr/>
        </p:nvSpPr>
        <p:spPr>
          <a:xfrm>
            <a:off x="226611" y="592505"/>
            <a:ext cx="10519577" cy="213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70" b="0" i="0" u="none" strike="noStrike" kern="1200" cap="none" spc="0" normalizeH="0" baseline="0" noProof="0" dirty="0">
                <a:ln>
                  <a:noFill/>
                </a:ln>
                <a:solidFill>
                  <a:srgbClr val="4E596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Mevreon unifies AYUSH evidence, AMR pathogen biology, and host-response signals into one explainable anti-infective ranking decision</a:t>
            </a:r>
            <a:endParaRPr kumimoji="0" lang="en-US" sz="13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4" name="Image 0" descr="/mnt/data/logo_mark2.png">
            <a:extLst>
              <a:ext uri="{FF2B5EF4-FFF2-40B4-BE49-F238E27FC236}">
                <a16:creationId xmlns:a16="http://schemas.microsoft.com/office/drawing/2014/main" id="{24D7E241-506A-00B5-4655-A11C23245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0036" y="80709"/>
            <a:ext cx="503575" cy="431061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46E7E154-E7BE-9A30-7C9F-D8FF4EB01BD6}"/>
              </a:ext>
            </a:extLst>
          </p:cNvPr>
          <p:cNvSpPr/>
          <p:nvPr/>
        </p:nvSpPr>
        <p:spPr>
          <a:xfrm>
            <a:off x="9568541" y="179197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50" b="0" i="0" u="none" strike="noStrike" kern="1200" cap="none" spc="0" normalizeH="0" baseline="0" noProof="0" dirty="0">
                <a:ln>
                  <a:noFill/>
                </a:ln>
                <a:solidFill>
                  <a:srgbClr val="263C6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MEVREON</a:t>
            </a:r>
            <a:endParaRPr kumimoji="0" lang="en-US" sz="2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FDE44E2F-66F6-945E-970E-D36322262235}"/>
              </a:ext>
            </a:extLst>
          </p:cNvPr>
          <p:cNvSpPr/>
          <p:nvPr/>
        </p:nvSpPr>
        <p:spPr>
          <a:xfrm>
            <a:off x="227945" y="886968"/>
            <a:ext cx="10582809" cy="6039106"/>
          </a:xfrm>
          <a:prstGeom prst="roundRect">
            <a:avLst>
              <a:gd name="adj" fmla="val 1911"/>
            </a:avLst>
          </a:prstGeom>
          <a:solidFill>
            <a:srgbClr val="F6F6F7"/>
          </a:solidFill>
          <a:ln w="15875">
            <a:solidFill>
              <a:srgbClr val="E1E4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ABC41296-611E-6A85-F485-719636E13D2F}"/>
              </a:ext>
            </a:extLst>
          </p:cNvPr>
          <p:cNvSpPr/>
          <p:nvPr/>
        </p:nvSpPr>
        <p:spPr>
          <a:xfrm>
            <a:off x="410825" y="1004900"/>
            <a:ext cx="1801368" cy="5830237"/>
          </a:xfrm>
          <a:prstGeom prst="roundRect">
            <a:avLst>
              <a:gd name="adj" fmla="val 5584"/>
            </a:avLst>
          </a:prstGeom>
          <a:solidFill>
            <a:srgbClr val="F4F6FA"/>
          </a:solidFill>
          <a:ln w="13970">
            <a:solidFill>
              <a:srgbClr val="C7D2E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89AE36FE-265A-757E-628F-C4A321E6CA41}"/>
              </a:ext>
            </a:extLst>
          </p:cNvPr>
          <p:cNvSpPr/>
          <p:nvPr/>
        </p:nvSpPr>
        <p:spPr>
          <a:xfrm>
            <a:off x="575417" y="1133856"/>
            <a:ext cx="1472184" cy="749808"/>
          </a:xfrm>
          <a:prstGeom prst="roundRect">
            <a:avLst>
              <a:gd name="adj" fmla="val 12791"/>
            </a:avLst>
          </a:prstGeom>
          <a:solidFill>
            <a:srgbClr val="2E588A"/>
          </a:solidFill>
          <a:ln w="12700">
            <a:solidFill>
              <a:srgbClr val="2E58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23E40F0-BD17-FC01-55B4-79C823DDC991}"/>
              </a:ext>
            </a:extLst>
          </p:cNvPr>
          <p:cNvSpPr/>
          <p:nvPr/>
        </p:nvSpPr>
        <p:spPr>
          <a:xfrm>
            <a:off x="666857" y="1289304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7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PATIENT, PATHOGEN &amp; AYUSH INPUTS</a:t>
            </a:r>
            <a:endParaRPr kumimoji="0" lang="en-US" sz="12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D5B64764-C5E6-CFEA-2632-E5511438DA43}"/>
              </a:ext>
            </a:extLst>
          </p:cNvPr>
          <p:cNvSpPr/>
          <p:nvPr/>
        </p:nvSpPr>
        <p:spPr>
          <a:xfrm>
            <a:off x="539315" y="2609893"/>
            <a:ext cx="1563624" cy="1165666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1430">
            <a:solidFill>
              <a:srgbClr val="D9DE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8940C43-5865-E23F-9EF6-A0BF59874A62}"/>
              </a:ext>
            </a:extLst>
          </p:cNvPr>
          <p:cNvSpPr/>
          <p:nvPr/>
        </p:nvSpPr>
        <p:spPr>
          <a:xfrm>
            <a:off x="647677" y="2645925"/>
            <a:ext cx="13533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Antimicrobial Resistant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(AMR) patients</a:t>
            </a:r>
            <a:endParaRPr kumimoji="0" lang="en-US" sz="94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D2DDEB3D-F96B-BA35-23E9-C839B81EF2CA}"/>
              </a:ext>
            </a:extLst>
          </p:cNvPr>
          <p:cNvSpPr/>
          <p:nvPr/>
        </p:nvSpPr>
        <p:spPr>
          <a:xfrm>
            <a:off x="539315" y="4773205"/>
            <a:ext cx="1563624" cy="972485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1430">
            <a:solidFill>
              <a:srgbClr val="D9DE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60A9A985-20EA-23AE-73C8-206C6DC15FDE}"/>
              </a:ext>
            </a:extLst>
          </p:cNvPr>
          <p:cNvSpPr/>
          <p:nvPr/>
        </p:nvSpPr>
        <p:spPr>
          <a:xfrm>
            <a:off x="637804" y="4888087"/>
            <a:ext cx="54864" cy="54864"/>
          </a:xfrm>
          <a:prstGeom prst="ellipse">
            <a:avLst/>
          </a:prstGeom>
          <a:solidFill>
            <a:srgbClr val="56A8CF"/>
          </a:solidFill>
          <a:ln w="12700">
            <a:solidFill>
              <a:srgbClr val="56A8C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58A9CA20-1694-2C4B-062B-8231FDD038F6}"/>
              </a:ext>
            </a:extLst>
          </p:cNvPr>
          <p:cNvSpPr/>
          <p:nvPr/>
        </p:nvSpPr>
        <p:spPr>
          <a:xfrm>
            <a:off x="763343" y="4803414"/>
            <a:ext cx="1289304" cy="235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95" b="0" i="0" u="none" strike="noStrike" kern="1200" cap="none" spc="0" normalizeH="0" baseline="0" noProof="0" dirty="0">
                <a:ln>
                  <a:noFill/>
                </a:ln>
                <a:solidFill>
                  <a:srgbClr val="3F485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Clinical Context</a:t>
            </a:r>
            <a:endParaRPr kumimoji="0" lang="en-US" sz="99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F3A369A8-E81C-42B8-C609-8FDD3C8A5284}"/>
              </a:ext>
            </a:extLst>
          </p:cNvPr>
          <p:cNvSpPr/>
          <p:nvPr/>
        </p:nvSpPr>
        <p:spPr>
          <a:xfrm>
            <a:off x="640082" y="5065057"/>
            <a:ext cx="54864" cy="54864"/>
          </a:xfrm>
          <a:prstGeom prst="ellipse">
            <a:avLst/>
          </a:prstGeom>
          <a:solidFill>
            <a:srgbClr val="56A8CF"/>
          </a:solidFill>
          <a:ln w="12700">
            <a:solidFill>
              <a:srgbClr val="56A8C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2BEEE03E-DBD1-08D9-80F0-A29A0715FE74}"/>
              </a:ext>
            </a:extLst>
          </p:cNvPr>
          <p:cNvSpPr/>
          <p:nvPr/>
        </p:nvSpPr>
        <p:spPr>
          <a:xfrm>
            <a:off x="776426" y="4989072"/>
            <a:ext cx="956856" cy="191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95" b="0" i="0" u="none" strike="noStrike" kern="1200" cap="none" spc="0" normalizeH="0" baseline="0" noProof="0" dirty="0">
                <a:ln>
                  <a:noFill/>
                </a:ln>
                <a:solidFill>
                  <a:srgbClr val="3F485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Resistant Types</a:t>
            </a:r>
            <a:endParaRPr kumimoji="0" lang="en-US" sz="99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F165ED37-D816-84E3-C366-82B9CD73A8FA}"/>
              </a:ext>
            </a:extLst>
          </p:cNvPr>
          <p:cNvSpPr/>
          <p:nvPr/>
        </p:nvSpPr>
        <p:spPr>
          <a:xfrm>
            <a:off x="645511" y="5255727"/>
            <a:ext cx="54864" cy="54864"/>
          </a:xfrm>
          <a:prstGeom prst="ellipse">
            <a:avLst/>
          </a:prstGeom>
          <a:solidFill>
            <a:srgbClr val="56A8CF"/>
          </a:solidFill>
          <a:ln w="12700">
            <a:solidFill>
              <a:srgbClr val="56A8C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8837F134-2A22-2B40-9855-C14A79388B2F}"/>
              </a:ext>
            </a:extLst>
          </p:cNvPr>
          <p:cNvSpPr/>
          <p:nvPr/>
        </p:nvSpPr>
        <p:spPr>
          <a:xfrm>
            <a:off x="768262" y="5229429"/>
            <a:ext cx="1289304" cy="235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95" b="0" i="0" u="none" strike="noStrike" kern="1200" cap="none" spc="0" normalizeH="0" baseline="0" noProof="0" dirty="0">
                <a:ln>
                  <a:noFill/>
                </a:ln>
                <a:solidFill>
                  <a:srgbClr val="3F485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Prior Therapy &amp;</a:t>
            </a:r>
            <a:endParaRPr kumimoji="0" lang="en-US" sz="99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95" b="0" i="0" u="none" strike="noStrike" kern="1200" cap="none" spc="0" normalizeH="0" baseline="0" noProof="0" dirty="0">
                <a:ln>
                  <a:noFill/>
                </a:ln>
                <a:solidFill>
                  <a:srgbClr val="3F485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kumimoji="0" lang="en-US" sz="99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8B9AB844-8A92-936E-5F0A-3DB3DA376F41}"/>
              </a:ext>
            </a:extLst>
          </p:cNvPr>
          <p:cNvSpPr/>
          <p:nvPr/>
        </p:nvSpPr>
        <p:spPr>
          <a:xfrm>
            <a:off x="639425" y="5590625"/>
            <a:ext cx="54864" cy="54864"/>
          </a:xfrm>
          <a:prstGeom prst="ellipse">
            <a:avLst/>
          </a:prstGeom>
          <a:solidFill>
            <a:srgbClr val="56A8CF"/>
          </a:solidFill>
          <a:ln w="12700">
            <a:solidFill>
              <a:srgbClr val="56A8C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C6D04DFF-5AF8-61F0-AE48-4F70C12DD0D2}"/>
              </a:ext>
            </a:extLst>
          </p:cNvPr>
          <p:cNvSpPr/>
          <p:nvPr/>
        </p:nvSpPr>
        <p:spPr>
          <a:xfrm>
            <a:off x="767915" y="5483497"/>
            <a:ext cx="1289304" cy="235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95" b="0" i="0" u="none" strike="noStrike" kern="1200" cap="none" spc="0" normalizeH="0" baseline="0" noProof="0" dirty="0">
                <a:ln>
                  <a:noFill/>
                </a:ln>
                <a:solidFill>
                  <a:srgbClr val="3F485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Comorbidities</a:t>
            </a:r>
            <a:endParaRPr kumimoji="0" lang="en-US" sz="99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277358E2-01DE-FA53-54D2-5026AE52750C}"/>
              </a:ext>
            </a:extLst>
          </p:cNvPr>
          <p:cNvSpPr/>
          <p:nvPr/>
        </p:nvSpPr>
        <p:spPr>
          <a:xfrm>
            <a:off x="453224" y="5916168"/>
            <a:ext cx="1711212" cy="847457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1430">
            <a:solidFill>
              <a:srgbClr val="D9DE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B271961E-9D0B-1500-CA0B-720E44BE9B03}"/>
              </a:ext>
            </a:extLst>
          </p:cNvPr>
          <p:cNvSpPr/>
          <p:nvPr/>
        </p:nvSpPr>
        <p:spPr>
          <a:xfrm>
            <a:off x="664019" y="5962955"/>
            <a:ext cx="1289304" cy="151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sng" strike="noStrike" kern="1200" cap="none" spc="0" normalizeH="0" baseline="0" noProof="0" dirty="0">
                <a:ln>
                  <a:noFill/>
                </a:ln>
                <a:solidFill>
                  <a:srgbClr val="3F485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Candidate Regimens</a:t>
            </a:r>
            <a:endParaRPr kumimoji="0" lang="en-US" sz="1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DE96E2CF-2E26-7F5C-1993-D54B1786033B}"/>
              </a:ext>
            </a:extLst>
          </p:cNvPr>
          <p:cNvSpPr/>
          <p:nvPr/>
        </p:nvSpPr>
        <p:spPr>
          <a:xfrm>
            <a:off x="533717" y="6233220"/>
            <a:ext cx="54864" cy="54864"/>
          </a:xfrm>
          <a:prstGeom prst="ellipse">
            <a:avLst/>
          </a:prstGeom>
          <a:solidFill>
            <a:srgbClr val="56A8CF"/>
          </a:solidFill>
          <a:ln w="12700">
            <a:solidFill>
              <a:srgbClr val="56A8C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12906A45-3674-D730-2CC3-48ABF5ACC8F9}"/>
              </a:ext>
            </a:extLst>
          </p:cNvPr>
          <p:cNvSpPr/>
          <p:nvPr/>
        </p:nvSpPr>
        <p:spPr>
          <a:xfrm>
            <a:off x="624014" y="6167053"/>
            <a:ext cx="1289304" cy="151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F485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Regimen A (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AYUSH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F485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FCA13391-91D0-2A12-29BF-AEA2E6275B2D}"/>
              </a:ext>
            </a:extLst>
          </p:cNvPr>
          <p:cNvSpPr/>
          <p:nvPr/>
        </p:nvSpPr>
        <p:spPr>
          <a:xfrm>
            <a:off x="533717" y="6397812"/>
            <a:ext cx="54864" cy="54864"/>
          </a:xfrm>
          <a:prstGeom prst="ellipse">
            <a:avLst/>
          </a:prstGeom>
          <a:solidFill>
            <a:srgbClr val="56A8CF"/>
          </a:solidFill>
          <a:ln w="12700">
            <a:solidFill>
              <a:srgbClr val="56A8C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071D42D9-FB98-E163-D4E9-14C0D8C70B13}"/>
              </a:ext>
            </a:extLst>
          </p:cNvPr>
          <p:cNvSpPr/>
          <p:nvPr/>
        </p:nvSpPr>
        <p:spPr>
          <a:xfrm>
            <a:off x="624013" y="6331645"/>
            <a:ext cx="142358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F485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Regimen B (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Antibiotics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F485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9F3BA72F-989A-5AAA-2F1D-0373CCCC877A}"/>
              </a:ext>
            </a:extLst>
          </p:cNvPr>
          <p:cNvSpPr/>
          <p:nvPr/>
        </p:nvSpPr>
        <p:spPr>
          <a:xfrm>
            <a:off x="533717" y="6562404"/>
            <a:ext cx="54864" cy="54864"/>
          </a:xfrm>
          <a:prstGeom prst="ellipse">
            <a:avLst/>
          </a:prstGeom>
          <a:solidFill>
            <a:srgbClr val="56A8CF"/>
          </a:solidFill>
          <a:ln w="12700">
            <a:solidFill>
              <a:srgbClr val="56A8C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1840CF6A-F722-E43E-2000-21DEB5B49C83}"/>
              </a:ext>
            </a:extLst>
          </p:cNvPr>
          <p:cNvSpPr/>
          <p:nvPr/>
        </p:nvSpPr>
        <p:spPr>
          <a:xfrm>
            <a:off x="624013" y="6496237"/>
            <a:ext cx="1517629" cy="199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F485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Regimen C (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Com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F485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bina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tion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F485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9" name="Shape 36">
            <a:extLst>
              <a:ext uri="{FF2B5EF4-FFF2-40B4-BE49-F238E27FC236}">
                <a16:creationId xmlns:a16="http://schemas.microsoft.com/office/drawing/2014/main" id="{8EC0270C-6086-3DB4-6C0B-3A0830494C41}"/>
              </a:ext>
            </a:extLst>
          </p:cNvPr>
          <p:cNvSpPr/>
          <p:nvPr/>
        </p:nvSpPr>
        <p:spPr>
          <a:xfrm>
            <a:off x="2331065" y="2834640"/>
            <a:ext cx="310896" cy="274320"/>
          </a:xfrm>
          <a:prstGeom prst="chevron">
            <a:avLst/>
          </a:prstGeom>
          <a:solidFill>
            <a:srgbClr val="A8BAD2"/>
          </a:solidFill>
          <a:ln w="12700">
            <a:solidFill>
              <a:srgbClr val="A8BAD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DA52FDFA-0ED1-A44D-1690-3DC8B77C808C}"/>
              </a:ext>
            </a:extLst>
          </p:cNvPr>
          <p:cNvSpPr/>
          <p:nvPr/>
        </p:nvSpPr>
        <p:spPr>
          <a:xfrm>
            <a:off x="4178153" y="1064280"/>
            <a:ext cx="2706624" cy="165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5A657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Parallel biological signals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2" name="Shape 39">
            <a:extLst>
              <a:ext uri="{FF2B5EF4-FFF2-40B4-BE49-F238E27FC236}">
                <a16:creationId xmlns:a16="http://schemas.microsoft.com/office/drawing/2014/main" id="{139D5A36-3CDC-E0FB-4F18-0A56BD7915B8}"/>
              </a:ext>
            </a:extLst>
          </p:cNvPr>
          <p:cNvSpPr/>
          <p:nvPr/>
        </p:nvSpPr>
        <p:spPr>
          <a:xfrm>
            <a:off x="2248769" y="1435608"/>
            <a:ext cx="1682496" cy="0"/>
          </a:xfrm>
          <a:prstGeom prst="line">
            <a:avLst/>
          </a:prstGeom>
          <a:noFill/>
          <a:ln w="12700">
            <a:solidFill>
              <a:srgbClr val="D6D6D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" name="Shape 40">
            <a:extLst>
              <a:ext uri="{FF2B5EF4-FFF2-40B4-BE49-F238E27FC236}">
                <a16:creationId xmlns:a16="http://schemas.microsoft.com/office/drawing/2014/main" id="{2AB1856D-23F1-42E8-4A3F-E0865BE21F27}"/>
              </a:ext>
            </a:extLst>
          </p:cNvPr>
          <p:cNvSpPr/>
          <p:nvPr/>
        </p:nvSpPr>
        <p:spPr>
          <a:xfrm>
            <a:off x="7213961" y="1435608"/>
            <a:ext cx="1810512" cy="0"/>
          </a:xfrm>
          <a:prstGeom prst="line">
            <a:avLst/>
          </a:prstGeom>
          <a:noFill/>
          <a:ln w="12700">
            <a:solidFill>
              <a:srgbClr val="D6D6D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Shape 41">
            <a:extLst>
              <a:ext uri="{FF2B5EF4-FFF2-40B4-BE49-F238E27FC236}">
                <a16:creationId xmlns:a16="http://schemas.microsoft.com/office/drawing/2014/main" id="{D1F3D79A-E86C-B46E-FC5F-CE94B73313E3}"/>
              </a:ext>
            </a:extLst>
          </p:cNvPr>
          <p:cNvSpPr/>
          <p:nvPr/>
        </p:nvSpPr>
        <p:spPr>
          <a:xfrm>
            <a:off x="2751689" y="1673352"/>
            <a:ext cx="1426464" cy="2418588"/>
          </a:xfrm>
          <a:prstGeom prst="roundRect">
            <a:avLst>
              <a:gd name="adj" fmla="val 5769"/>
            </a:avLst>
          </a:prstGeom>
          <a:solidFill>
            <a:srgbClr val="F4F6F0"/>
          </a:solidFill>
          <a:ln w="13335">
            <a:solidFill>
              <a:srgbClr val="C3D5A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" name="Shape 42">
            <a:extLst>
              <a:ext uri="{FF2B5EF4-FFF2-40B4-BE49-F238E27FC236}">
                <a16:creationId xmlns:a16="http://schemas.microsoft.com/office/drawing/2014/main" id="{974044C8-3FF1-AF98-BF22-8BEB63B30EB1}"/>
              </a:ext>
            </a:extLst>
          </p:cNvPr>
          <p:cNvSpPr/>
          <p:nvPr/>
        </p:nvSpPr>
        <p:spPr>
          <a:xfrm>
            <a:off x="2751689" y="1673352"/>
            <a:ext cx="1426464" cy="530352"/>
          </a:xfrm>
          <a:prstGeom prst="roundRect">
            <a:avLst>
              <a:gd name="adj" fmla="val 15517"/>
            </a:avLst>
          </a:prstGeom>
          <a:solidFill>
            <a:srgbClr val="709F48"/>
          </a:solidFill>
          <a:ln w="12700">
            <a:solidFill>
              <a:srgbClr val="709F4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" name="Text 43">
            <a:extLst>
              <a:ext uri="{FF2B5EF4-FFF2-40B4-BE49-F238E27FC236}">
                <a16:creationId xmlns:a16="http://schemas.microsoft.com/office/drawing/2014/main" id="{7F0EF2F4-F2CE-8BE5-099C-89C127A4F909}"/>
              </a:ext>
            </a:extLst>
          </p:cNvPr>
          <p:cNvSpPr/>
          <p:nvPr/>
        </p:nvSpPr>
        <p:spPr>
          <a:xfrm>
            <a:off x="2824841" y="17739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6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Host-Response &amp; Infection Severity Modulation</a:t>
            </a:r>
            <a:endParaRPr kumimoji="0" lang="en-US" sz="11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7" name="Text 44">
            <a:extLst>
              <a:ext uri="{FF2B5EF4-FFF2-40B4-BE49-F238E27FC236}">
                <a16:creationId xmlns:a16="http://schemas.microsoft.com/office/drawing/2014/main" id="{19EB72DE-A303-A2F6-58DC-3D82F473EF62}"/>
              </a:ext>
            </a:extLst>
          </p:cNvPr>
          <p:cNvSpPr/>
          <p:nvPr/>
        </p:nvSpPr>
        <p:spPr>
          <a:xfrm>
            <a:off x="2861417" y="2276856"/>
            <a:ext cx="12070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3F485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Will this AYUSH regimen reduce infection burden or improve host-response biology?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Shape 45">
            <a:extLst>
              <a:ext uri="{FF2B5EF4-FFF2-40B4-BE49-F238E27FC236}">
                <a16:creationId xmlns:a16="http://schemas.microsoft.com/office/drawing/2014/main" id="{2186F8BC-49F1-766E-91C6-D9DE548B0CF3}"/>
              </a:ext>
            </a:extLst>
          </p:cNvPr>
          <p:cNvSpPr/>
          <p:nvPr/>
        </p:nvSpPr>
        <p:spPr>
          <a:xfrm>
            <a:off x="2870561" y="3072384"/>
            <a:ext cx="1188720" cy="0"/>
          </a:xfrm>
          <a:prstGeom prst="line">
            <a:avLst/>
          </a:prstGeom>
          <a:noFill/>
          <a:ln w="10160">
            <a:solidFill>
              <a:srgbClr val="C3D5A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2" name="Shape 48">
            <a:extLst>
              <a:ext uri="{FF2B5EF4-FFF2-40B4-BE49-F238E27FC236}">
                <a16:creationId xmlns:a16="http://schemas.microsoft.com/office/drawing/2014/main" id="{656D073C-839B-A2F7-99B4-E41EE0655EC3}"/>
              </a:ext>
            </a:extLst>
          </p:cNvPr>
          <p:cNvSpPr/>
          <p:nvPr/>
        </p:nvSpPr>
        <p:spPr>
          <a:xfrm>
            <a:off x="4306169" y="1673352"/>
            <a:ext cx="1426464" cy="2414016"/>
          </a:xfrm>
          <a:prstGeom prst="roundRect">
            <a:avLst>
              <a:gd name="adj" fmla="val 5769"/>
            </a:avLst>
          </a:prstGeom>
          <a:solidFill>
            <a:srgbClr val="FAF6EF"/>
          </a:solidFill>
          <a:ln w="13335">
            <a:solidFill>
              <a:srgbClr val="E2C5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3" name="Shape 49">
            <a:extLst>
              <a:ext uri="{FF2B5EF4-FFF2-40B4-BE49-F238E27FC236}">
                <a16:creationId xmlns:a16="http://schemas.microsoft.com/office/drawing/2014/main" id="{917E221C-C43A-5FEE-E5B7-ABEC5A2C179B}"/>
              </a:ext>
            </a:extLst>
          </p:cNvPr>
          <p:cNvSpPr/>
          <p:nvPr/>
        </p:nvSpPr>
        <p:spPr>
          <a:xfrm>
            <a:off x="4306169" y="1673352"/>
            <a:ext cx="1426464" cy="530352"/>
          </a:xfrm>
          <a:prstGeom prst="roundRect">
            <a:avLst>
              <a:gd name="adj" fmla="val 15517"/>
            </a:avLst>
          </a:prstGeom>
          <a:solidFill>
            <a:srgbClr val="D89F27"/>
          </a:solidFill>
          <a:ln w="12700">
            <a:solidFill>
              <a:srgbClr val="D89F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4" name="Text 50">
            <a:extLst>
              <a:ext uri="{FF2B5EF4-FFF2-40B4-BE49-F238E27FC236}">
                <a16:creationId xmlns:a16="http://schemas.microsoft.com/office/drawing/2014/main" id="{7C8D96DF-BA8C-CDB2-B717-AB694FD69536}"/>
              </a:ext>
            </a:extLst>
          </p:cNvPr>
          <p:cNvSpPr/>
          <p:nvPr/>
        </p:nvSpPr>
        <p:spPr>
          <a:xfrm>
            <a:off x="4379321" y="17739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6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Combination</a:t>
            </a:r>
            <a:endParaRPr kumimoji="0" lang="en-US" sz="11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6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Safety &amp; Efficacy</a:t>
            </a:r>
            <a:endParaRPr kumimoji="0" lang="en-US" sz="11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5" name="Text 51">
            <a:extLst>
              <a:ext uri="{FF2B5EF4-FFF2-40B4-BE49-F238E27FC236}">
                <a16:creationId xmlns:a16="http://schemas.microsoft.com/office/drawing/2014/main" id="{1E38F12D-E34F-F2C8-E293-7A045150EF4D}"/>
              </a:ext>
            </a:extLst>
          </p:cNvPr>
          <p:cNvSpPr/>
          <p:nvPr/>
        </p:nvSpPr>
        <p:spPr>
          <a:xfrm>
            <a:off x="4415897" y="2252733"/>
            <a:ext cx="12070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3F485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Which AYUSH–antimicrobial combination has the best benefit-risk balance?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6" name="Shape 52">
            <a:extLst>
              <a:ext uri="{FF2B5EF4-FFF2-40B4-BE49-F238E27FC236}">
                <a16:creationId xmlns:a16="http://schemas.microsoft.com/office/drawing/2014/main" id="{EEF60B26-1923-49D3-D04C-1428024AB980}"/>
              </a:ext>
            </a:extLst>
          </p:cNvPr>
          <p:cNvSpPr/>
          <p:nvPr/>
        </p:nvSpPr>
        <p:spPr>
          <a:xfrm>
            <a:off x="4425041" y="3072384"/>
            <a:ext cx="1188720" cy="0"/>
          </a:xfrm>
          <a:prstGeom prst="line">
            <a:avLst/>
          </a:prstGeom>
          <a:noFill/>
          <a:ln w="10160">
            <a:solidFill>
              <a:srgbClr val="E2C5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57" name="Image 2" descr="/mnt/data/orange2.png">
            <a:extLst>
              <a:ext uri="{FF2B5EF4-FFF2-40B4-BE49-F238E27FC236}">
                <a16:creationId xmlns:a16="http://schemas.microsoft.com/office/drawing/2014/main" id="{EAE793E3-F324-B086-240D-5F25550772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4497" y="3112516"/>
            <a:ext cx="681990" cy="340995"/>
          </a:xfrm>
          <a:prstGeom prst="rect">
            <a:avLst/>
          </a:prstGeom>
        </p:spPr>
      </p:pic>
      <p:sp>
        <p:nvSpPr>
          <p:cNvPr id="58" name="Text 53">
            <a:extLst>
              <a:ext uri="{FF2B5EF4-FFF2-40B4-BE49-F238E27FC236}">
                <a16:creationId xmlns:a16="http://schemas.microsoft.com/office/drawing/2014/main" id="{7806165F-4B71-2035-5892-6BBB0F27DA88}"/>
              </a:ext>
            </a:extLst>
          </p:cNvPr>
          <p:cNvSpPr/>
          <p:nvPr/>
        </p:nvSpPr>
        <p:spPr>
          <a:xfrm>
            <a:off x="4516481" y="3566160"/>
            <a:ext cx="1106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90" b="0" i="0" u="none" strike="noStrike" kern="1200" cap="none" spc="0" normalizeH="0" baseline="0" noProof="0" dirty="0">
                <a:ln>
                  <a:noFill/>
                </a:ln>
                <a:solidFill>
                  <a:srgbClr val="3F485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✓ Efficacy score</a:t>
            </a:r>
            <a:endParaRPr kumimoji="0" lang="en-US" sz="89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9" name="Text 54">
            <a:extLst>
              <a:ext uri="{FF2B5EF4-FFF2-40B4-BE49-F238E27FC236}">
                <a16:creationId xmlns:a16="http://schemas.microsoft.com/office/drawing/2014/main" id="{B2FC2A38-412B-DBC3-8E61-72ED0EC99B05}"/>
              </a:ext>
            </a:extLst>
          </p:cNvPr>
          <p:cNvSpPr/>
          <p:nvPr/>
        </p:nvSpPr>
        <p:spPr>
          <a:xfrm>
            <a:off x="4516481" y="3767328"/>
            <a:ext cx="1106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90" b="0" i="0" u="none" strike="noStrike" kern="1200" cap="none" spc="0" normalizeH="0" baseline="0" noProof="0" dirty="0">
                <a:ln>
                  <a:noFill/>
                </a:ln>
                <a:solidFill>
                  <a:srgbClr val="3F485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✓ Safety risk flag</a:t>
            </a:r>
            <a:endParaRPr kumimoji="0" lang="en-US" sz="89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0" name="Shape 55">
            <a:extLst>
              <a:ext uri="{FF2B5EF4-FFF2-40B4-BE49-F238E27FC236}">
                <a16:creationId xmlns:a16="http://schemas.microsoft.com/office/drawing/2014/main" id="{A63BEF0E-326C-22DA-AB5C-01E6E485E44F}"/>
              </a:ext>
            </a:extLst>
          </p:cNvPr>
          <p:cNvSpPr/>
          <p:nvPr/>
        </p:nvSpPr>
        <p:spPr>
          <a:xfrm>
            <a:off x="5860649" y="1673352"/>
            <a:ext cx="1426464" cy="2414016"/>
          </a:xfrm>
          <a:prstGeom prst="roundRect">
            <a:avLst>
              <a:gd name="adj" fmla="val 5769"/>
            </a:avLst>
          </a:prstGeom>
          <a:solidFill>
            <a:srgbClr val="F6F3FA"/>
          </a:solidFill>
          <a:ln w="13335">
            <a:solidFill>
              <a:srgbClr val="C9BD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1" name="Shape 56">
            <a:extLst>
              <a:ext uri="{FF2B5EF4-FFF2-40B4-BE49-F238E27FC236}">
                <a16:creationId xmlns:a16="http://schemas.microsoft.com/office/drawing/2014/main" id="{670F8F9B-E32B-1685-C578-BF6E8C733FAE}"/>
              </a:ext>
            </a:extLst>
          </p:cNvPr>
          <p:cNvSpPr/>
          <p:nvPr/>
        </p:nvSpPr>
        <p:spPr>
          <a:xfrm>
            <a:off x="5860649" y="1673352"/>
            <a:ext cx="1426464" cy="530352"/>
          </a:xfrm>
          <a:prstGeom prst="roundRect">
            <a:avLst>
              <a:gd name="adj" fmla="val 15517"/>
            </a:avLst>
          </a:prstGeom>
          <a:solidFill>
            <a:srgbClr val="7A67B8"/>
          </a:solidFill>
          <a:ln w="12700">
            <a:solidFill>
              <a:srgbClr val="7A67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2" name="Text 57">
            <a:extLst>
              <a:ext uri="{FF2B5EF4-FFF2-40B4-BE49-F238E27FC236}">
                <a16:creationId xmlns:a16="http://schemas.microsoft.com/office/drawing/2014/main" id="{B1EE605A-349C-20BC-8834-C2A15856B507}"/>
              </a:ext>
            </a:extLst>
          </p:cNvPr>
          <p:cNvSpPr/>
          <p:nvPr/>
        </p:nvSpPr>
        <p:spPr>
          <a:xfrm>
            <a:off x="5933801" y="17739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6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Target &amp;</a:t>
            </a:r>
            <a:endParaRPr kumimoji="0" lang="en-US" sz="11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6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Pathway Relevance</a:t>
            </a:r>
            <a:endParaRPr kumimoji="0" lang="en-US" sz="11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3" name="Text 58">
            <a:extLst>
              <a:ext uri="{FF2B5EF4-FFF2-40B4-BE49-F238E27FC236}">
                <a16:creationId xmlns:a16="http://schemas.microsoft.com/office/drawing/2014/main" id="{C1D598B0-05FD-12A1-74F6-DF53E2A95083}"/>
              </a:ext>
            </a:extLst>
          </p:cNvPr>
          <p:cNvSpPr/>
          <p:nvPr/>
        </p:nvSpPr>
        <p:spPr>
          <a:xfrm>
            <a:off x="5970377" y="2255520"/>
            <a:ext cx="12070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3F485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Which resistance mechanisms, virulence drivers, or biofilm pathways matter most here?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4" name="Shape 59">
            <a:extLst>
              <a:ext uri="{FF2B5EF4-FFF2-40B4-BE49-F238E27FC236}">
                <a16:creationId xmlns:a16="http://schemas.microsoft.com/office/drawing/2014/main" id="{C35F8163-850F-E445-C827-CCF2317B4883}"/>
              </a:ext>
            </a:extLst>
          </p:cNvPr>
          <p:cNvSpPr/>
          <p:nvPr/>
        </p:nvSpPr>
        <p:spPr>
          <a:xfrm>
            <a:off x="5979521" y="3072384"/>
            <a:ext cx="1188720" cy="0"/>
          </a:xfrm>
          <a:prstGeom prst="line">
            <a:avLst/>
          </a:prstGeom>
          <a:noFill/>
          <a:ln w="10160">
            <a:solidFill>
              <a:srgbClr val="C9BD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65" name="Image 3" descr="/mnt/data/purple2.png">
            <a:extLst>
              <a:ext uri="{FF2B5EF4-FFF2-40B4-BE49-F238E27FC236}">
                <a16:creationId xmlns:a16="http://schemas.microsoft.com/office/drawing/2014/main" id="{1BBE05F1-BA60-4B8B-CF57-3CD8529E89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4219" y="3099054"/>
            <a:ext cx="734187" cy="374904"/>
          </a:xfrm>
          <a:prstGeom prst="rect">
            <a:avLst/>
          </a:prstGeom>
        </p:spPr>
      </p:pic>
      <p:sp>
        <p:nvSpPr>
          <p:cNvPr id="66" name="Text 60">
            <a:extLst>
              <a:ext uri="{FF2B5EF4-FFF2-40B4-BE49-F238E27FC236}">
                <a16:creationId xmlns:a16="http://schemas.microsoft.com/office/drawing/2014/main" id="{7E2DE28A-F233-4E5B-E7A4-B325C5D2CF3C}"/>
              </a:ext>
            </a:extLst>
          </p:cNvPr>
          <p:cNvSpPr/>
          <p:nvPr/>
        </p:nvSpPr>
        <p:spPr>
          <a:xfrm>
            <a:off x="6070961" y="3566160"/>
            <a:ext cx="1106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90" b="0" i="0" u="none" strike="noStrike" kern="1200" cap="none" spc="0" normalizeH="0" baseline="0" noProof="0" dirty="0">
                <a:ln>
                  <a:noFill/>
                </a:ln>
                <a:solidFill>
                  <a:srgbClr val="3F485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✓ Key pathways</a:t>
            </a:r>
            <a:endParaRPr kumimoji="0" lang="en-US" sz="89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7" name="Text 61">
            <a:extLst>
              <a:ext uri="{FF2B5EF4-FFF2-40B4-BE49-F238E27FC236}">
                <a16:creationId xmlns:a16="http://schemas.microsoft.com/office/drawing/2014/main" id="{DC7B254C-C800-3DE8-A36E-E5B5FA0BC471}"/>
              </a:ext>
            </a:extLst>
          </p:cNvPr>
          <p:cNvSpPr/>
          <p:nvPr/>
        </p:nvSpPr>
        <p:spPr>
          <a:xfrm>
            <a:off x="6070961" y="3767328"/>
            <a:ext cx="1106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90" b="0" i="0" u="none" strike="noStrike" kern="1200" cap="none" spc="0" normalizeH="0" baseline="0" noProof="0" dirty="0">
                <a:ln>
                  <a:noFill/>
                </a:ln>
                <a:solidFill>
                  <a:srgbClr val="3F485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✓ Resistance clues</a:t>
            </a:r>
            <a:endParaRPr kumimoji="0" lang="en-US" sz="89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8" name="Shape 62">
            <a:extLst>
              <a:ext uri="{FF2B5EF4-FFF2-40B4-BE49-F238E27FC236}">
                <a16:creationId xmlns:a16="http://schemas.microsoft.com/office/drawing/2014/main" id="{1E1460D4-A427-E6D8-CA4B-2ECE3B9AEE5D}"/>
              </a:ext>
            </a:extLst>
          </p:cNvPr>
          <p:cNvSpPr/>
          <p:nvPr/>
        </p:nvSpPr>
        <p:spPr>
          <a:xfrm>
            <a:off x="7415129" y="1673352"/>
            <a:ext cx="1426464" cy="2414016"/>
          </a:xfrm>
          <a:prstGeom prst="roundRect">
            <a:avLst>
              <a:gd name="adj" fmla="val 5769"/>
            </a:avLst>
          </a:prstGeom>
          <a:solidFill>
            <a:srgbClr val="F2F8FB"/>
          </a:solidFill>
          <a:ln w="13335">
            <a:solidFill>
              <a:srgbClr val="B7D8E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9" name="Shape 63">
            <a:extLst>
              <a:ext uri="{FF2B5EF4-FFF2-40B4-BE49-F238E27FC236}">
                <a16:creationId xmlns:a16="http://schemas.microsoft.com/office/drawing/2014/main" id="{244B8407-C51B-6806-0A35-19F531D63655}"/>
              </a:ext>
            </a:extLst>
          </p:cNvPr>
          <p:cNvSpPr/>
          <p:nvPr/>
        </p:nvSpPr>
        <p:spPr>
          <a:xfrm>
            <a:off x="7415129" y="1673352"/>
            <a:ext cx="1426464" cy="530352"/>
          </a:xfrm>
          <a:prstGeom prst="roundRect">
            <a:avLst>
              <a:gd name="adj" fmla="val 15517"/>
            </a:avLst>
          </a:prstGeom>
          <a:solidFill>
            <a:srgbClr val="4B9AB7"/>
          </a:solidFill>
          <a:ln w="12700">
            <a:solidFill>
              <a:srgbClr val="4B9AB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0" name="Text 64">
            <a:extLst>
              <a:ext uri="{FF2B5EF4-FFF2-40B4-BE49-F238E27FC236}">
                <a16:creationId xmlns:a16="http://schemas.microsoft.com/office/drawing/2014/main" id="{A9AF84CE-1550-BD14-75A1-0695EAA9C8C4}"/>
              </a:ext>
            </a:extLst>
          </p:cNvPr>
          <p:cNvSpPr/>
          <p:nvPr/>
        </p:nvSpPr>
        <p:spPr>
          <a:xfrm>
            <a:off x="7488281" y="17739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6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Drug–Target</a:t>
            </a:r>
            <a:endParaRPr kumimoji="0" lang="en-US" sz="11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6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Plausibility</a:t>
            </a:r>
            <a:endParaRPr kumimoji="0" lang="en-US" sz="11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1" name="Text 65">
            <a:extLst>
              <a:ext uri="{FF2B5EF4-FFF2-40B4-BE49-F238E27FC236}">
                <a16:creationId xmlns:a16="http://schemas.microsoft.com/office/drawing/2014/main" id="{669CDB67-F67E-792E-F8D6-1EB63FA27BAD}"/>
              </a:ext>
            </a:extLst>
          </p:cNvPr>
          <p:cNvSpPr/>
          <p:nvPr/>
        </p:nvSpPr>
        <p:spPr>
          <a:xfrm>
            <a:off x="7524857" y="2268220"/>
            <a:ext cx="12070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3F485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Does the AYUSH candidate or combination still fit the pathogen and host biology?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2" name="Shape 66">
            <a:extLst>
              <a:ext uri="{FF2B5EF4-FFF2-40B4-BE49-F238E27FC236}">
                <a16:creationId xmlns:a16="http://schemas.microsoft.com/office/drawing/2014/main" id="{49C258F0-5EE8-2BCB-A71A-E2B39FE73F53}"/>
              </a:ext>
            </a:extLst>
          </p:cNvPr>
          <p:cNvSpPr/>
          <p:nvPr/>
        </p:nvSpPr>
        <p:spPr>
          <a:xfrm>
            <a:off x="7534001" y="3072384"/>
            <a:ext cx="1188720" cy="0"/>
          </a:xfrm>
          <a:prstGeom prst="line">
            <a:avLst/>
          </a:prstGeom>
          <a:noFill/>
          <a:ln w="10160">
            <a:solidFill>
              <a:srgbClr val="B7D8E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73" name="Image 4" descr="/mnt/data/blue2.png">
            <a:extLst>
              <a:ext uri="{FF2B5EF4-FFF2-40B4-BE49-F238E27FC236}">
                <a16:creationId xmlns:a16="http://schemas.microsoft.com/office/drawing/2014/main" id="{7275D311-2F9C-CF84-F94C-F19BADBEF9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7937" y="3118104"/>
            <a:ext cx="662559" cy="338328"/>
          </a:xfrm>
          <a:prstGeom prst="rect">
            <a:avLst/>
          </a:prstGeom>
        </p:spPr>
      </p:pic>
      <p:sp>
        <p:nvSpPr>
          <p:cNvPr id="74" name="Text 67">
            <a:extLst>
              <a:ext uri="{FF2B5EF4-FFF2-40B4-BE49-F238E27FC236}">
                <a16:creationId xmlns:a16="http://schemas.microsoft.com/office/drawing/2014/main" id="{FA29CCE6-6EA0-68BF-3E92-7EC86049EA61}"/>
              </a:ext>
            </a:extLst>
          </p:cNvPr>
          <p:cNvSpPr/>
          <p:nvPr/>
        </p:nvSpPr>
        <p:spPr>
          <a:xfrm>
            <a:off x="7475433" y="3567320"/>
            <a:ext cx="1353312" cy="203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90" b="0" i="0" u="none" strike="noStrike" kern="1200" cap="none" spc="0" normalizeH="0" baseline="0" noProof="0" dirty="0">
                <a:ln>
                  <a:noFill/>
                </a:ln>
                <a:solidFill>
                  <a:srgbClr val="3F485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✓ Genotype/phenotype fit</a:t>
            </a:r>
            <a:endParaRPr kumimoji="0" lang="en-US" sz="89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5" name="Text 68">
            <a:extLst>
              <a:ext uri="{FF2B5EF4-FFF2-40B4-BE49-F238E27FC236}">
                <a16:creationId xmlns:a16="http://schemas.microsoft.com/office/drawing/2014/main" id="{C59A120C-CA25-579A-6E2E-2A530D2BCCCD}"/>
              </a:ext>
            </a:extLst>
          </p:cNvPr>
          <p:cNvSpPr/>
          <p:nvPr/>
        </p:nvSpPr>
        <p:spPr>
          <a:xfrm>
            <a:off x="7598877" y="3773714"/>
            <a:ext cx="1106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90" b="0" i="0" u="none" strike="noStrike" kern="1200" cap="none" spc="0" normalizeH="0" baseline="0" noProof="0" dirty="0">
                <a:ln>
                  <a:noFill/>
                </a:ln>
                <a:solidFill>
                  <a:srgbClr val="3F485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✓ Binding plausibility</a:t>
            </a:r>
            <a:endParaRPr kumimoji="0" lang="en-US" sz="89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0" name="Shape 73">
            <a:extLst>
              <a:ext uri="{FF2B5EF4-FFF2-40B4-BE49-F238E27FC236}">
                <a16:creationId xmlns:a16="http://schemas.microsoft.com/office/drawing/2014/main" id="{7EB9FD07-7861-FFCE-AAF9-16DDE7E88A9B}"/>
              </a:ext>
            </a:extLst>
          </p:cNvPr>
          <p:cNvSpPr/>
          <p:nvPr/>
        </p:nvSpPr>
        <p:spPr>
          <a:xfrm>
            <a:off x="8987897" y="1620744"/>
            <a:ext cx="1645920" cy="2471196"/>
          </a:xfrm>
          <a:prstGeom prst="roundRect">
            <a:avLst>
              <a:gd name="adj" fmla="val 6111"/>
            </a:avLst>
          </a:prstGeom>
          <a:solidFill>
            <a:srgbClr val="F1F6EC"/>
          </a:solidFill>
          <a:ln w="13335">
            <a:solidFill>
              <a:srgbClr val="AFC79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1" name="Shape 74">
            <a:extLst>
              <a:ext uri="{FF2B5EF4-FFF2-40B4-BE49-F238E27FC236}">
                <a16:creationId xmlns:a16="http://schemas.microsoft.com/office/drawing/2014/main" id="{7D5B92E3-C97B-0131-F9D3-E4DDAC5CC151}"/>
              </a:ext>
            </a:extLst>
          </p:cNvPr>
          <p:cNvSpPr/>
          <p:nvPr/>
        </p:nvSpPr>
        <p:spPr>
          <a:xfrm>
            <a:off x="8987897" y="1633082"/>
            <a:ext cx="1645920" cy="749808"/>
          </a:xfrm>
          <a:prstGeom prst="roundRect">
            <a:avLst>
              <a:gd name="adj" fmla="val 13415"/>
            </a:avLst>
          </a:prstGeom>
          <a:solidFill>
            <a:srgbClr val="4D8536"/>
          </a:solidFill>
          <a:ln w="12700">
            <a:solidFill>
              <a:srgbClr val="4D853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2" name="Text 75">
            <a:extLst>
              <a:ext uri="{FF2B5EF4-FFF2-40B4-BE49-F238E27FC236}">
                <a16:creationId xmlns:a16="http://schemas.microsoft.com/office/drawing/2014/main" id="{0F7D66A5-A0D4-76AC-1701-5A4D66D372D8}"/>
              </a:ext>
            </a:extLst>
          </p:cNvPr>
          <p:cNvSpPr/>
          <p:nvPr/>
        </p:nvSpPr>
        <p:spPr>
          <a:xfrm>
            <a:off x="9207353" y="1819656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4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RANKED</a:t>
            </a:r>
            <a:endParaRPr kumimoji="0" lang="en-US" sz="124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4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THERAPY OUTPUTS</a:t>
            </a:r>
            <a:endParaRPr kumimoji="0" lang="en-US" sz="124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3" name="Text 76">
            <a:extLst>
              <a:ext uri="{FF2B5EF4-FFF2-40B4-BE49-F238E27FC236}">
                <a16:creationId xmlns:a16="http://schemas.microsoft.com/office/drawing/2014/main" id="{804D1873-8883-562E-9D4A-FC11C6398871}"/>
              </a:ext>
            </a:extLst>
          </p:cNvPr>
          <p:cNvSpPr/>
          <p:nvPr/>
        </p:nvSpPr>
        <p:spPr>
          <a:xfrm>
            <a:off x="8990036" y="2341008"/>
            <a:ext cx="1643781" cy="5069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Ranked AYUSH candidates/combinations</a:t>
            </a:r>
          </a:p>
        </p:txBody>
      </p:sp>
      <p:sp>
        <p:nvSpPr>
          <p:cNvPr id="84" name="Text 77">
            <a:extLst>
              <a:ext uri="{FF2B5EF4-FFF2-40B4-BE49-F238E27FC236}">
                <a16:creationId xmlns:a16="http://schemas.microsoft.com/office/drawing/2014/main" id="{9E66C204-1BDC-2F73-8880-5EED8B7B854E}"/>
              </a:ext>
            </a:extLst>
          </p:cNvPr>
          <p:cNvSpPr/>
          <p:nvPr/>
        </p:nvSpPr>
        <p:spPr>
          <a:xfrm>
            <a:off x="9098331" y="3297569"/>
            <a:ext cx="1409196" cy="2517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Regulatory readiness</a:t>
            </a:r>
          </a:p>
        </p:txBody>
      </p:sp>
      <p:sp>
        <p:nvSpPr>
          <p:cNvPr id="85" name="Text 78">
            <a:extLst>
              <a:ext uri="{FF2B5EF4-FFF2-40B4-BE49-F238E27FC236}">
                <a16:creationId xmlns:a16="http://schemas.microsoft.com/office/drawing/2014/main" id="{777C3598-1ED0-03B5-58FE-776044AE861C}"/>
              </a:ext>
            </a:extLst>
          </p:cNvPr>
          <p:cNvSpPr/>
          <p:nvPr/>
        </p:nvSpPr>
        <p:spPr>
          <a:xfrm>
            <a:off x="9085632" y="3637307"/>
            <a:ext cx="1429539" cy="3414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Faster clinical translation</a:t>
            </a:r>
          </a:p>
        </p:txBody>
      </p:sp>
      <p:sp>
        <p:nvSpPr>
          <p:cNvPr id="93" name="Shape 86">
            <a:extLst>
              <a:ext uri="{FF2B5EF4-FFF2-40B4-BE49-F238E27FC236}">
                <a16:creationId xmlns:a16="http://schemas.microsoft.com/office/drawing/2014/main" id="{B84543DB-AE67-1438-2FC9-70C79CC9B98B}"/>
              </a:ext>
            </a:extLst>
          </p:cNvPr>
          <p:cNvSpPr/>
          <p:nvPr/>
        </p:nvSpPr>
        <p:spPr>
          <a:xfrm>
            <a:off x="8859881" y="2898648"/>
            <a:ext cx="128016" cy="164592"/>
          </a:xfrm>
          <a:prstGeom prst="chevron">
            <a:avLst/>
          </a:prstGeom>
          <a:solidFill>
            <a:srgbClr val="80B4B7"/>
          </a:solidFill>
          <a:ln w="12700">
            <a:solidFill>
              <a:srgbClr val="80B4B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5" name="Shape 88">
            <a:extLst>
              <a:ext uri="{FF2B5EF4-FFF2-40B4-BE49-F238E27FC236}">
                <a16:creationId xmlns:a16="http://schemas.microsoft.com/office/drawing/2014/main" id="{C5CF530F-39AA-6B6E-F103-FEC423BB9D68}"/>
              </a:ext>
            </a:extLst>
          </p:cNvPr>
          <p:cNvSpPr/>
          <p:nvPr/>
        </p:nvSpPr>
        <p:spPr>
          <a:xfrm>
            <a:off x="2942238" y="5048468"/>
            <a:ext cx="6117994" cy="1324667"/>
          </a:xfrm>
          <a:prstGeom prst="roundRect">
            <a:avLst>
              <a:gd name="adj" fmla="val 7317"/>
            </a:avLst>
          </a:prstGeom>
          <a:solidFill>
            <a:srgbClr val="EEF2F8"/>
          </a:solidFill>
          <a:ln w="13335">
            <a:solidFill>
              <a:srgbClr val="C6D0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6" name="Shape 89">
            <a:extLst>
              <a:ext uri="{FF2B5EF4-FFF2-40B4-BE49-F238E27FC236}">
                <a16:creationId xmlns:a16="http://schemas.microsoft.com/office/drawing/2014/main" id="{A528650C-AF31-683C-4D62-A66888F5BA3C}"/>
              </a:ext>
            </a:extLst>
          </p:cNvPr>
          <p:cNvSpPr/>
          <p:nvPr/>
        </p:nvSpPr>
        <p:spPr>
          <a:xfrm>
            <a:off x="2953614" y="4289380"/>
            <a:ext cx="6089904" cy="657292"/>
          </a:xfrm>
          <a:prstGeom prst="rect">
            <a:avLst/>
          </a:prstGeom>
          <a:solidFill>
            <a:srgbClr val="DCE3F0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Harmonize inputs • Calibrate evidence •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Rerank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AYUSH options • Quantify uncertainty</a:t>
            </a:r>
          </a:p>
        </p:txBody>
      </p:sp>
      <p:sp>
        <p:nvSpPr>
          <p:cNvPr id="97" name="Text 90">
            <a:extLst>
              <a:ext uri="{FF2B5EF4-FFF2-40B4-BE49-F238E27FC236}">
                <a16:creationId xmlns:a16="http://schemas.microsoft.com/office/drawing/2014/main" id="{68E21588-A9AB-9D68-D579-190A1E8519E3}"/>
              </a:ext>
            </a:extLst>
          </p:cNvPr>
          <p:cNvSpPr/>
          <p:nvPr/>
        </p:nvSpPr>
        <p:spPr>
          <a:xfrm>
            <a:off x="4287881" y="4498240"/>
            <a:ext cx="3236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80" b="1" i="0" u="none" strike="noStrike" kern="1200" cap="none" spc="0" normalizeH="0" baseline="0" noProof="0" dirty="0">
                <a:ln>
                  <a:noFill/>
                </a:ln>
                <a:solidFill>
                  <a:srgbClr val="24344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MEVREON FUSION LAYER</a:t>
            </a:r>
            <a:endParaRPr kumimoji="0" lang="en-US" sz="14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8" name="Shape 91">
            <a:extLst>
              <a:ext uri="{FF2B5EF4-FFF2-40B4-BE49-F238E27FC236}">
                <a16:creationId xmlns:a16="http://schemas.microsoft.com/office/drawing/2014/main" id="{CBBFFF4E-46E0-FD17-AEF7-8AC771913799}"/>
              </a:ext>
            </a:extLst>
          </p:cNvPr>
          <p:cNvSpPr/>
          <p:nvPr/>
        </p:nvSpPr>
        <p:spPr>
          <a:xfrm>
            <a:off x="3003149" y="5144326"/>
            <a:ext cx="1024128" cy="36493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0160">
            <a:solidFill>
              <a:srgbClr val="D3D7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8" name="Text 101">
            <a:extLst>
              <a:ext uri="{FF2B5EF4-FFF2-40B4-BE49-F238E27FC236}">
                <a16:creationId xmlns:a16="http://schemas.microsoft.com/office/drawing/2014/main" id="{34DC1F22-EDCE-573C-F6C4-0EA72FBA87E3}"/>
              </a:ext>
            </a:extLst>
          </p:cNvPr>
          <p:cNvSpPr/>
          <p:nvPr/>
        </p:nvSpPr>
        <p:spPr>
          <a:xfrm>
            <a:off x="3401970" y="6440288"/>
            <a:ext cx="5366471" cy="379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Explainable AI-based anti-infective prioritization</a:t>
            </a:r>
          </a:p>
        </p:txBody>
      </p:sp>
      <p:sp>
        <p:nvSpPr>
          <p:cNvPr id="113" name="Shape 36">
            <a:extLst>
              <a:ext uri="{FF2B5EF4-FFF2-40B4-BE49-F238E27FC236}">
                <a16:creationId xmlns:a16="http://schemas.microsoft.com/office/drawing/2014/main" id="{D60AB682-6BFE-63CA-AB9A-1DE2B1B069F9}"/>
              </a:ext>
            </a:extLst>
          </p:cNvPr>
          <p:cNvSpPr/>
          <p:nvPr/>
        </p:nvSpPr>
        <p:spPr>
          <a:xfrm rot="5400000">
            <a:off x="1165205" y="3055566"/>
            <a:ext cx="310896" cy="274320"/>
          </a:xfrm>
          <a:prstGeom prst="chevron">
            <a:avLst/>
          </a:prstGeom>
          <a:solidFill>
            <a:srgbClr val="FFFF00"/>
          </a:solidFill>
          <a:ln w="12700">
            <a:solidFill>
              <a:srgbClr val="A8BAD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4" name="Text 9">
            <a:extLst>
              <a:ext uri="{FF2B5EF4-FFF2-40B4-BE49-F238E27FC236}">
                <a16:creationId xmlns:a16="http://schemas.microsoft.com/office/drawing/2014/main" id="{B71D8C01-1FB0-2A7D-2EB7-21179D4DC3CC}"/>
              </a:ext>
            </a:extLst>
          </p:cNvPr>
          <p:cNvSpPr/>
          <p:nvPr/>
        </p:nvSpPr>
        <p:spPr>
          <a:xfrm>
            <a:off x="649043" y="3371483"/>
            <a:ext cx="13533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Multi-drug resistance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(MDR)</a:t>
            </a:r>
            <a:endParaRPr kumimoji="0" lang="en-US" sz="94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6" name="Shape 18">
            <a:extLst>
              <a:ext uri="{FF2B5EF4-FFF2-40B4-BE49-F238E27FC236}">
                <a16:creationId xmlns:a16="http://schemas.microsoft.com/office/drawing/2014/main" id="{9C82EEC6-A023-CDDC-FA3D-E0B530116A57}"/>
              </a:ext>
            </a:extLst>
          </p:cNvPr>
          <p:cNvSpPr/>
          <p:nvPr/>
        </p:nvSpPr>
        <p:spPr>
          <a:xfrm>
            <a:off x="542859" y="1991120"/>
            <a:ext cx="1563624" cy="563196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1430">
            <a:solidFill>
              <a:srgbClr val="D9DEE8"/>
            </a:solidFill>
            <a:prstDash val="solid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ESKAPE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pathogens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B977F58F-4015-98A0-EFA4-229A27353251}"/>
              </a:ext>
            </a:extLst>
          </p:cNvPr>
          <p:cNvSpPr/>
          <p:nvPr/>
        </p:nvSpPr>
        <p:spPr>
          <a:xfrm>
            <a:off x="483029" y="1938570"/>
            <a:ext cx="1658614" cy="1895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9" name="Shape 18">
            <a:extLst>
              <a:ext uri="{FF2B5EF4-FFF2-40B4-BE49-F238E27FC236}">
                <a16:creationId xmlns:a16="http://schemas.microsoft.com/office/drawing/2014/main" id="{D6E5B5B6-C158-A732-1ACB-48453BB54FE5}"/>
              </a:ext>
            </a:extLst>
          </p:cNvPr>
          <p:cNvSpPr/>
          <p:nvPr/>
        </p:nvSpPr>
        <p:spPr>
          <a:xfrm>
            <a:off x="782276" y="3912825"/>
            <a:ext cx="1359367" cy="750887"/>
          </a:xfrm>
          <a:prstGeom prst="roundRect">
            <a:avLst>
              <a:gd name="adj" fmla="val 6338"/>
            </a:avLst>
          </a:prstGeom>
          <a:solidFill>
            <a:schemeClr val="accent4">
              <a:lumMod val="20000"/>
              <a:lumOff val="80000"/>
            </a:schemeClr>
          </a:solidFill>
          <a:ln w="11430">
            <a:solidFill>
              <a:srgbClr val="D9DE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8" name="Text 20">
            <a:extLst>
              <a:ext uri="{FF2B5EF4-FFF2-40B4-BE49-F238E27FC236}">
                <a16:creationId xmlns:a16="http://schemas.microsoft.com/office/drawing/2014/main" id="{5A18607C-9016-2080-6981-7DD9C0508111}"/>
              </a:ext>
            </a:extLst>
          </p:cNvPr>
          <p:cNvSpPr/>
          <p:nvPr/>
        </p:nvSpPr>
        <p:spPr>
          <a:xfrm>
            <a:off x="875132" y="3827713"/>
            <a:ext cx="1289304" cy="8168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Genomics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Metabolomics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Transcriptomics</a:t>
            </a:r>
            <a:endParaRPr kumimoji="0" lang="en-US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1" name="Shape 23">
            <a:extLst>
              <a:ext uri="{FF2B5EF4-FFF2-40B4-BE49-F238E27FC236}">
                <a16:creationId xmlns:a16="http://schemas.microsoft.com/office/drawing/2014/main" id="{78A3AC68-57A0-20E6-1D1E-127A090F738E}"/>
              </a:ext>
            </a:extLst>
          </p:cNvPr>
          <p:cNvSpPr/>
          <p:nvPr/>
        </p:nvSpPr>
        <p:spPr>
          <a:xfrm>
            <a:off x="864223" y="4005031"/>
            <a:ext cx="54864" cy="54864"/>
          </a:xfrm>
          <a:prstGeom prst="ellipse">
            <a:avLst/>
          </a:prstGeom>
          <a:solidFill>
            <a:srgbClr val="56A8CF"/>
          </a:solidFill>
          <a:ln w="12700">
            <a:solidFill>
              <a:srgbClr val="56A8C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2" name="Shape 23">
            <a:extLst>
              <a:ext uri="{FF2B5EF4-FFF2-40B4-BE49-F238E27FC236}">
                <a16:creationId xmlns:a16="http://schemas.microsoft.com/office/drawing/2014/main" id="{DBA6CB2D-7188-BBC5-0FEF-A1C226A74566}"/>
              </a:ext>
            </a:extLst>
          </p:cNvPr>
          <p:cNvSpPr/>
          <p:nvPr/>
        </p:nvSpPr>
        <p:spPr>
          <a:xfrm>
            <a:off x="864223" y="4234516"/>
            <a:ext cx="54864" cy="54864"/>
          </a:xfrm>
          <a:prstGeom prst="ellipse">
            <a:avLst/>
          </a:prstGeom>
          <a:solidFill>
            <a:srgbClr val="56A8CF"/>
          </a:solidFill>
          <a:ln w="12700">
            <a:solidFill>
              <a:srgbClr val="56A8C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3" name="Shape 23">
            <a:extLst>
              <a:ext uri="{FF2B5EF4-FFF2-40B4-BE49-F238E27FC236}">
                <a16:creationId xmlns:a16="http://schemas.microsoft.com/office/drawing/2014/main" id="{B65D3002-5A4A-ADA3-4EB3-553607BDF933}"/>
              </a:ext>
            </a:extLst>
          </p:cNvPr>
          <p:cNvSpPr/>
          <p:nvPr/>
        </p:nvSpPr>
        <p:spPr>
          <a:xfrm>
            <a:off x="866758" y="4489704"/>
            <a:ext cx="54864" cy="54864"/>
          </a:xfrm>
          <a:prstGeom prst="ellipse">
            <a:avLst/>
          </a:prstGeom>
          <a:solidFill>
            <a:srgbClr val="56A8CF"/>
          </a:solidFill>
          <a:ln w="12700">
            <a:solidFill>
              <a:srgbClr val="56A8C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27" name="Connector: Elbow 126">
            <a:extLst>
              <a:ext uri="{FF2B5EF4-FFF2-40B4-BE49-F238E27FC236}">
                <a16:creationId xmlns:a16="http://schemas.microsoft.com/office/drawing/2014/main" id="{F4649421-B20B-FC88-54B6-8B5554013286}"/>
              </a:ext>
            </a:extLst>
          </p:cNvPr>
          <p:cNvCxnSpPr>
            <a:cxnSpLocks/>
          </p:cNvCxnSpPr>
          <p:nvPr/>
        </p:nvCxnSpPr>
        <p:spPr>
          <a:xfrm rot="16200000" flipH="1">
            <a:off x="477647" y="3931645"/>
            <a:ext cx="367794" cy="172256"/>
          </a:xfrm>
          <a:prstGeom prst="bentConnector3">
            <a:avLst>
              <a:gd name="adj1" fmla="val 100967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3" name="Shape 91">
            <a:extLst>
              <a:ext uri="{FF2B5EF4-FFF2-40B4-BE49-F238E27FC236}">
                <a16:creationId xmlns:a16="http://schemas.microsoft.com/office/drawing/2014/main" id="{8618D1AD-ECEB-29F6-F009-B01052D5FAEC}"/>
              </a:ext>
            </a:extLst>
          </p:cNvPr>
          <p:cNvSpPr/>
          <p:nvPr/>
        </p:nvSpPr>
        <p:spPr>
          <a:xfrm>
            <a:off x="3003149" y="5547784"/>
            <a:ext cx="1024128" cy="329119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0160">
            <a:solidFill>
              <a:srgbClr val="D3D7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4" name="Shape 91">
            <a:extLst>
              <a:ext uri="{FF2B5EF4-FFF2-40B4-BE49-F238E27FC236}">
                <a16:creationId xmlns:a16="http://schemas.microsoft.com/office/drawing/2014/main" id="{D60FE25E-1B07-044A-3712-57D150B6993A}"/>
              </a:ext>
            </a:extLst>
          </p:cNvPr>
          <p:cNvSpPr/>
          <p:nvPr/>
        </p:nvSpPr>
        <p:spPr>
          <a:xfrm>
            <a:off x="2999131" y="5943105"/>
            <a:ext cx="1024128" cy="364937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0160">
            <a:solidFill>
              <a:srgbClr val="D3D7D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6" name="Text 92">
            <a:extLst>
              <a:ext uri="{FF2B5EF4-FFF2-40B4-BE49-F238E27FC236}">
                <a16:creationId xmlns:a16="http://schemas.microsoft.com/office/drawing/2014/main" id="{631F3E10-3C7E-0216-7D2D-9D5463A009FC}"/>
              </a:ext>
            </a:extLst>
          </p:cNvPr>
          <p:cNvSpPr/>
          <p:nvPr/>
        </p:nvSpPr>
        <p:spPr>
          <a:xfrm>
            <a:off x="3021845" y="5217144"/>
            <a:ext cx="1024128" cy="183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Multi-omics Integration</a:t>
            </a:r>
            <a:endParaRPr kumimoji="0" lang="en-US" sz="88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38" name="Connector: Elbow 137">
            <a:extLst>
              <a:ext uri="{FF2B5EF4-FFF2-40B4-BE49-F238E27FC236}">
                <a16:creationId xmlns:a16="http://schemas.microsoft.com/office/drawing/2014/main" id="{339072BC-5FB0-91EF-1BDD-3009DD014FE9}"/>
              </a:ext>
            </a:extLst>
          </p:cNvPr>
          <p:cNvCxnSpPr>
            <a:stCxn id="119" idx="3"/>
            <a:endCxn id="98" idx="1"/>
          </p:cNvCxnSpPr>
          <p:nvPr/>
        </p:nvCxnSpPr>
        <p:spPr>
          <a:xfrm>
            <a:off x="2141643" y="4288269"/>
            <a:ext cx="861506" cy="1038526"/>
          </a:xfrm>
          <a:prstGeom prst="bentConnector3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9" name="Text 92">
            <a:extLst>
              <a:ext uri="{FF2B5EF4-FFF2-40B4-BE49-F238E27FC236}">
                <a16:creationId xmlns:a16="http://schemas.microsoft.com/office/drawing/2014/main" id="{80EBAAEB-4725-302D-3C11-A146C4EAD575}"/>
              </a:ext>
            </a:extLst>
          </p:cNvPr>
          <p:cNvSpPr/>
          <p:nvPr/>
        </p:nvSpPr>
        <p:spPr>
          <a:xfrm>
            <a:off x="3014429" y="5601271"/>
            <a:ext cx="1024128" cy="183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Clinical profiling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of patients</a:t>
            </a:r>
            <a:endParaRPr kumimoji="0" lang="en-US" sz="88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41" name="Connector: Elbow 140">
            <a:extLst>
              <a:ext uri="{FF2B5EF4-FFF2-40B4-BE49-F238E27FC236}">
                <a16:creationId xmlns:a16="http://schemas.microsoft.com/office/drawing/2014/main" id="{F0A51FD3-0F65-C2EB-5323-4376899D78D5}"/>
              </a:ext>
            </a:extLst>
          </p:cNvPr>
          <p:cNvCxnSpPr>
            <a:endCxn id="133" idx="1"/>
          </p:cNvCxnSpPr>
          <p:nvPr/>
        </p:nvCxnSpPr>
        <p:spPr>
          <a:xfrm>
            <a:off x="2106483" y="5280896"/>
            <a:ext cx="896666" cy="431448"/>
          </a:xfrm>
          <a:prstGeom prst="bentConnector3">
            <a:avLst>
              <a:gd name="adj1" fmla="val 31246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3" name="Text 92">
            <a:extLst>
              <a:ext uri="{FF2B5EF4-FFF2-40B4-BE49-F238E27FC236}">
                <a16:creationId xmlns:a16="http://schemas.microsoft.com/office/drawing/2014/main" id="{4F86C584-51EB-A4D8-23F3-EBC66448034D}"/>
              </a:ext>
            </a:extLst>
          </p:cNvPr>
          <p:cNvSpPr/>
          <p:nvPr/>
        </p:nvSpPr>
        <p:spPr>
          <a:xfrm>
            <a:off x="3090017" y="6016187"/>
            <a:ext cx="1024128" cy="183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NLEAM-Based AYUSH Library </a:t>
            </a:r>
          </a:p>
        </p:txBody>
      </p:sp>
      <p:cxnSp>
        <p:nvCxnSpPr>
          <p:cNvPr id="145" name="Connector: Elbow 144">
            <a:extLst>
              <a:ext uri="{FF2B5EF4-FFF2-40B4-BE49-F238E27FC236}">
                <a16:creationId xmlns:a16="http://schemas.microsoft.com/office/drawing/2014/main" id="{66D1FC6D-C848-A188-DB8B-575938963A13}"/>
              </a:ext>
            </a:extLst>
          </p:cNvPr>
          <p:cNvCxnSpPr>
            <a:stCxn id="30" idx="3"/>
            <a:endCxn id="134" idx="1"/>
          </p:cNvCxnSpPr>
          <p:nvPr/>
        </p:nvCxnSpPr>
        <p:spPr>
          <a:xfrm flipV="1">
            <a:off x="2164436" y="6125574"/>
            <a:ext cx="834695" cy="214323"/>
          </a:xfrm>
          <a:prstGeom prst="bentConnector3">
            <a:avLst>
              <a:gd name="adj1" fmla="val 23557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7" name="Shape 36">
            <a:extLst>
              <a:ext uri="{FF2B5EF4-FFF2-40B4-BE49-F238E27FC236}">
                <a16:creationId xmlns:a16="http://schemas.microsoft.com/office/drawing/2014/main" id="{772F70B9-ABB0-E8AF-0B87-2EB4EB250B4C}"/>
              </a:ext>
            </a:extLst>
          </p:cNvPr>
          <p:cNvSpPr/>
          <p:nvPr/>
        </p:nvSpPr>
        <p:spPr>
          <a:xfrm>
            <a:off x="4306169" y="5541032"/>
            <a:ext cx="310896" cy="274320"/>
          </a:xfrm>
          <a:prstGeom prst="chevron">
            <a:avLst/>
          </a:prstGeom>
          <a:solidFill>
            <a:srgbClr val="A8BAD2"/>
          </a:solidFill>
          <a:ln w="12700">
            <a:solidFill>
              <a:srgbClr val="A8BAD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B9762E19-B255-BFB9-93FF-08A6B1937B07}"/>
              </a:ext>
            </a:extLst>
          </p:cNvPr>
          <p:cNvSpPr/>
          <p:nvPr/>
        </p:nvSpPr>
        <p:spPr>
          <a:xfrm>
            <a:off x="4757322" y="5321175"/>
            <a:ext cx="1589722" cy="71402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BBD9963A-1BD4-E7D1-5936-5D770FF6F7C9}"/>
              </a:ext>
            </a:extLst>
          </p:cNvPr>
          <p:cNvSpPr txBox="1"/>
          <p:nvPr/>
        </p:nvSpPr>
        <p:spPr>
          <a:xfrm>
            <a:off x="5019401" y="5490460"/>
            <a:ext cx="10668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Fusion</a:t>
            </a:r>
          </a:p>
        </p:txBody>
      </p:sp>
      <p:sp>
        <p:nvSpPr>
          <p:cNvPr id="151" name="Shape 36">
            <a:extLst>
              <a:ext uri="{FF2B5EF4-FFF2-40B4-BE49-F238E27FC236}">
                <a16:creationId xmlns:a16="http://schemas.microsoft.com/office/drawing/2014/main" id="{8D3990E3-54E7-B03F-6ABD-33C16EEF46AB}"/>
              </a:ext>
            </a:extLst>
          </p:cNvPr>
          <p:cNvSpPr/>
          <p:nvPr/>
        </p:nvSpPr>
        <p:spPr>
          <a:xfrm>
            <a:off x="6468725" y="5573641"/>
            <a:ext cx="310896" cy="274320"/>
          </a:xfrm>
          <a:prstGeom prst="chevron">
            <a:avLst/>
          </a:prstGeom>
          <a:solidFill>
            <a:srgbClr val="A8BAD2"/>
          </a:solidFill>
          <a:ln w="12700">
            <a:solidFill>
              <a:srgbClr val="A8BAD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3C5861CE-18E2-3BA8-ACF4-80AB77BC7BE1}"/>
              </a:ext>
            </a:extLst>
          </p:cNvPr>
          <p:cNvSpPr txBox="1"/>
          <p:nvPr/>
        </p:nvSpPr>
        <p:spPr>
          <a:xfrm>
            <a:off x="7013448" y="5358098"/>
            <a:ext cx="1737360" cy="6544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Ranked outputs</a:t>
            </a:r>
          </a:p>
        </p:txBody>
      </p:sp>
      <p:sp>
        <p:nvSpPr>
          <p:cNvPr id="13" name="Text 53">
            <a:extLst>
              <a:ext uri="{FF2B5EF4-FFF2-40B4-BE49-F238E27FC236}">
                <a16:creationId xmlns:a16="http://schemas.microsoft.com/office/drawing/2014/main" id="{5680FA31-C9D5-8AAA-9344-EA24B168CBDB}"/>
              </a:ext>
            </a:extLst>
          </p:cNvPr>
          <p:cNvSpPr/>
          <p:nvPr/>
        </p:nvSpPr>
        <p:spPr>
          <a:xfrm>
            <a:off x="2865481" y="3572510"/>
            <a:ext cx="1242822" cy="90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90" b="0" i="0" u="none" strike="noStrike" kern="1200" cap="none" spc="0" normalizeH="0" baseline="0" noProof="0" dirty="0">
                <a:ln>
                  <a:noFill/>
                </a:ln>
                <a:solidFill>
                  <a:srgbClr val="3F485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✓ Host-response score</a:t>
            </a:r>
            <a:endParaRPr kumimoji="0" lang="en-US" sz="89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Text 54">
            <a:extLst>
              <a:ext uri="{FF2B5EF4-FFF2-40B4-BE49-F238E27FC236}">
                <a16:creationId xmlns:a16="http://schemas.microsoft.com/office/drawing/2014/main" id="{AA64C364-200D-7243-AF9C-621C7C8CB47B}"/>
              </a:ext>
            </a:extLst>
          </p:cNvPr>
          <p:cNvSpPr/>
          <p:nvPr/>
        </p:nvSpPr>
        <p:spPr>
          <a:xfrm>
            <a:off x="2871831" y="3760977"/>
            <a:ext cx="1370838" cy="161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90" b="0" i="0" u="none" strike="noStrike" kern="1200" cap="none" spc="0" normalizeH="0" baseline="0" noProof="0" dirty="0">
                <a:ln>
                  <a:noFill/>
                </a:ln>
                <a:solidFill>
                  <a:srgbClr val="3F485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✓ Severity / recurrence risk flag</a:t>
            </a:r>
            <a:endParaRPr kumimoji="0" lang="en-US" sz="89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Text 76">
            <a:extLst>
              <a:ext uri="{FF2B5EF4-FFF2-40B4-BE49-F238E27FC236}">
                <a16:creationId xmlns:a16="http://schemas.microsoft.com/office/drawing/2014/main" id="{A8C26B0D-0AE1-73F9-981F-71205B5C204F}"/>
              </a:ext>
            </a:extLst>
          </p:cNvPr>
          <p:cNvSpPr/>
          <p:nvPr/>
        </p:nvSpPr>
        <p:spPr>
          <a:xfrm>
            <a:off x="9085013" y="2908270"/>
            <a:ext cx="1430158" cy="2926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Evidence-linked biological rationale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B0E82DD-AB6F-7BF5-5566-CB2719E214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58597" y="3086235"/>
            <a:ext cx="562787" cy="387722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2586213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6814</TotalTime>
  <Words>271</Words>
  <Application>Microsoft Office PowerPoint</Application>
  <PresentationFormat>Custom</PresentationFormat>
  <Paragraphs>61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Aptos</vt:lpstr>
      <vt:lpstr>Arial</vt:lpstr>
      <vt:lpstr>Office Theme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recreation</dc:title>
  <dc:subject>Editable PowerPoint recreation from image</dc:subject>
  <dc:creator>OpenAI</dc:creator>
  <cp:lastModifiedBy>nishant agrawal</cp:lastModifiedBy>
  <cp:revision>6</cp:revision>
  <dcterms:created xsi:type="dcterms:W3CDTF">2026-03-29T05:45:09Z</dcterms:created>
  <dcterms:modified xsi:type="dcterms:W3CDTF">2026-06-03T04:58:32Z</dcterms:modified>
</cp:coreProperties>
</file>